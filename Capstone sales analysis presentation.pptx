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1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bhit Chourasia" userId="594168a1ef3cfede" providerId="LiveId" clId="{E7B9D431-445E-4F2E-8DDE-92847F70151A}"/>
    <pc:docChg chg="undo custSel addSld delSld modSld sldOrd">
      <pc:chgData name="Shobhit Chourasia" userId="594168a1ef3cfede" providerId="LiveId" clId="{E7B9D431-445E-4F2E-8DDE-92847F70151A}" dt="2026-04-01T07:07:21.266" v="828" actId="1076"/>
      <pc:docMkLst>
        <pc:docMk/>
      </pc:docMkLst>
      <pc:sldChg chg="modSp mod">
        <pc:chgData name="Shobhit Chourasia" userId="594168a1ef3cfede" providerId="LiveId" clId="{E7B9D431-445E-4F2E-8DDE-92847F70151A}" dt="2026-04-01T04:20:13.174" v="513" actId="14100"/>
        <pc:sldMkLst>
          <pc:docMk/>
          <pc:sldMk cId="915822753" sldId="257"/>
        </pc:sldMkLst>
        <pc:spChg chg="mod">
          <ac:chgData name="Shobhit Chourasia" userId="594168a1ef3cfede" providerId="LiveId" clId="{E7B9D431-445E-4F2E-8DDE-92847F70151A}" dt="2026-04-01T04:20:13.174" v="513" actId="14100"/>
          <ac:spMkLst>
            <pc:docMk/>
            <pc:sldMk cId="915822753" sldId="257"/>
            <ac:spMk id="32" creationId="{C0D716C6-9A5E-CB47-6D23-2FF0F368E955}"/>
          </ac:spMkLst>
        </pc:spChg>
      </pc:sldChg>
      <pc:sldChg chg="modSp mod">
        <pc:chgData name="Shobhit Chourasia" userId="594168a1ef3cfede" providerId="LiveId" clId="{E7B9D431-445E-4F2E-8DDE-92847F70151A}" dt="2026-04-01T04:29:36.224" v="593" actId="14100"/>
        <pc:sldMkLst>
          <pc:docMk/>
          <pc:sldMk cId="274760567" sldId="258"/>
        </pc:sldMkLst>
        <pc:spChg chg="mod">
          <ac:chgData name="Shobhit Chourasia" userId="594168a1ef3cfede" providerId="LiveId" clId="{E7B9D431-445E-4F2E-8DDE-92847F70151A}" dt="2026-04-01T04:29:16.987" v="589" actId="14100"/>
          <ac:spMkLst>
            <pc:docMk/>
            <pc:sldMk cId="274760567" sldId="258"/>
            <ac:spMk id="2" creationId="{6DC786D1-67DA-521C-96A1-C1E78E3D47C6}"/>
          </ac:spMkLst>
        </pc:spChg>
        <pc:spChg chg="mod">
          <ac:chgData name="Shobhit Chourasia" userId="594168a1ef3cfede" providerId="LiveId" clId="{E7B9D431-445E-4F2E-8DDE-92847F70151A}" dt="2026-04-01T04:29:27.247" v="591" actId="14100"/>
          <ac:spMkLst>
            <pc:docMk/>
            <pc:sldMk cId="274760567" sldId="258"/>
            <ac:spMk id="6" creationId="{A6BEECCD-65A6-C6DF-B454-BA7B3F8C1104}"/>
          </ac:spMkLst>
        </pc:spChg>
        <pc:spChg chg="mod">
          <ac:chgData name="Shobhit Chourasia" userId="594168a1ef3cfede" providerId="LiveId" clId="{E7B9D431-445E-4F2E-8DDE-92847F70151A}" dt="2026-04-01T04:29:36.224" v="593" actId="14100"/>
          <ac:spMkLst>
            <pc:docMk/>
            <pc:sldMk cId="274760567" sldId="258"/>
            <ac:spMk id="15" creationId="{6A1030D1-2393-0529-44C8-52B604A9BE68}"/>
          </ac:spMkLst>
        </pc:spChg>
      </pc:sldChg>
      <pc:sldChg chg="addSp delSp modSp new mod">
        <pc:chgData name="Shobhit Chourasia" userId="594168a1ef3cfede" providerId="LiveId" clId="{E7B9D431-445E-4F2E-8DDE-92847F70151A}" dt="2026-03-31T17:28:56.850" v="507" actId="1076"/>
        <pc:sldMkLst>
          <pc:docMk/>
          <pc:sldMk cId="1064326846" sldId="259"/>
        </pc:sldMkLst>
        <pc:spChg chg="add mod">
          <ac:chgData name="Shobhit Chourasia" userId="594168a1ef3cfede" providerId="LiveId" clId="{E7B9D431-445E-4F2E-8DDE-92847F70151A}" dt="2026-03-31T17:28:37.285" v="502" actId="164"/>
          <ac:spMkLst>
            <pc:docMk/>
            <pc:sldMk cId="1064326846" sldId="259"/>
            <ac:spMk id="2" creationId="{052EF671-182F-8D4A-CCAD-F5997FF6BF9B}"/>
          </ac:spMkLst>
        </pc:spChg>
        <pc:spChg chg="add mod">
          <ac:chgData name="Shobhit Chourasia" userId="594168a1ef3cfede" providerId="LiveId" clId="{E7B9D431-445E-4F2E-8DDE-92847F70151A}" dt="2026-03-31T17:28:30.162" v="501" actId="164"/>
          <ac:spMkLst>
            <pc:docMk/>
            <pc:sldMk cId="1064326846" sldId="259"/>
            <ac:spMk id="3" creationId="{9EDCFE8B-C011-C467-D8D7-D23D1A88DBF6}"/>
          </ac:spMkLst>
        </pc:spChg>
        <pc:spChg chg="add del mod">
          <ac:chgData name="Shobhit Chourasia" userId="594168a1ef3cfede" providerId="LiveId" clId="{E7B9D431-445E-4F2E-8DDE-92847F70151A}" dt="2026-03-31T17:27:16.789" v="490" actId="478"/>
          <ac:spMkLst>
            <pc:docMk/>
            <pc:sldMk cId="1064326846" sldId="259"/>
            <ac:spMk id="4" creationId="{B0113F6A-748B-9546-4E69-E96AEBC48870}"/>
          </ac:spMkLst>
        </pc:spChg>
        <pc:spChg chg="add mod">
          <ac:chgData name="Shobhit Chourasia" userId="594168a1ef3cfede" providerId="LiveId" clId="{E7B9D431-445E-4F2E-8DDE-92847F70151A}" dt="2026-03-31T17:28:37.285" v="502" actId="164"/>
          <ac:spMkLst>
            <pc:docMk/>
            <pc:sldMk cId="1064326846" sldId="259"/>
            <ac:spMk id="5" creationId="{7EE3F96F-E64A-5D3B-D678-70BEF97EA2FB}"/>
          </ac:spMkLst>
        </pc:spChg>
        <pc:spChg chg="add mod">
          <ac:chgData name="Shobhit Chourasia" userId="594168a1ef3cfede" providerId="LiveId" clId="{E7B9D431-445E-4F2E-8DDE-92847F70151A}" dt="2026-03-31T17:28:30.162" v="501" actId="164"/>
          <ac:spMkLst>
            <pc:docMk/>
            <pc:sldMk cId="1064326846" sldId="259"/>
            <ac:spMk id="6" creationId="{B7DD4406-E47A-1296-6010-80DA8ABAFFEE}"/>
          </ac:spMkLst>
        </pc:spChg>
        <pc:spChg chg="add mod">
          <ac:chgData name="Shobhit Chourasia" userId="594168a1ef3cfede" providerId="LiveId" clId="{E7B9D431-445E-4F2E-8DDE-92847F70151A}" dt="2026-03-31T17:23:32.401" v="440"/>
          <ac:spMkLst>
            <pc:docMk/>
            <pc:sldMk cId="1064326846" sldId="259"/>
            <ac:spMk id="7" creationId="{314AC14B-B6FF-D146-91A9-752D111A8FBD}"/>
          </ac:spMkLst>
        </pc:spChg>
        <pc:grpChg chg="add mod">
          <ac:chgData name="Shobhit Chourasia" userId="594168a1ef3cfede" providerId="LiveId" clId="{E7B9D431-445E-4F2E-8DDE-92847F70151A}" dt="2026-03-31T17:28:48.904" v="505" actId="14100"/>
          <ac:grpSpMkLst>
            <pc:docMk/>
            <pc:sldMk cId="1064326846" sldId="259"/>
            <ac:grpSpMk id="8" creationId="{C27DCAE9-800E-1F28-D200-809A9338AB17}"/>
          </ac:grpSpMkLst>
        </pc:grpChg>
        <pc:grpChg chg="add mod">
          <ac:chgData name="Shobhit Chourasia" userId="594168a1ef3cfede" providerId="LiveId" clId="{E7B9D431-445E-4F2E-8DDE-92847F70151A}" dt="2026-03-31T17:28:56.850" v="507" actId="1076"/>
          <ac:grpSpMkLst>
            <pc:docMk/>
            <pc:sldMk cId="1064326846" sldId="259"/>
            <ac:grpSpMk id="9" creationId="{D20EB917-5C4B-A510-E897-EBD5EBD10B18}"/>
          </ac:grpSpMkLst>
        </pc:grpChg>
      </pc:sldChg>
      <pc:sldChg chg="addSp modSp new del mod">
        <pc:chgData name="Shobhit Chourasia" userId="594168a1ef3cfede" providerId="LiveId" clId="{E7B9D431-445E-4F2E-8DDE-92847F70151A}" dt="2026-04-01T04:29:02.620" v="587" actId="2696"/>
        <pc:sldMkLst>
          <pc:docMk/>
          <pc:sldMk cId="2304658561" sldId="260"/>
        </pc:sldMkLst>
        <pc:spChg chg="add mod">
          <ac:chgData name="Shobhit Chourasia" userId="594168a1ef3cfede" providerId="LiveId" clId="{E7B9D431-445E-4F2E-8DDE-92847F70151A}" dt="2026-04-01T04:21:16.666" v="538" actId="255"/>
          <ac:spMkLst>
            <pc:docMk/>
            <pc:sldMk cId="2304658561" sldId="260"/>
            <ac:spMk id="2" creationId="{8C63EA7E-1020-F831-DFA5-39397F0157F3}"/>
          </ac:spMkLst>
        </pc:spChg>
        <pc:picChg chg="add mod">
          <ac:chgData name="Shobhit Chourasia" userId="594168a1ef3cfede" providerId="LiveId" clId="{E7B9D431-445E-4F2E-8DDE-92847F70151A}" dt="2026-04-01T04:22:53.668" v="544" actId="1076"/>
          <ac:picMkLst>
            <pc:docMk/>
            <pc:sldMk cId="2304658561" sldId="260"/>
            <ac:picMk id="4" creationId="{39929C4E-5AE7-5649-3247-3D9C12F39AD4}"/>
          </ac:picMkLst>
        </pc:picChg>
      </pc:sldChg>
      <pc:sldChg chg="addSp modSp new mod ord">
        <pc:chgData name="Shobhit Chourasia" userId="594168a1ef3cfede" providerId="LiveId" clId="{E7B9D431-445E-4F2E-8DDE-92847F70151A}" dt="2026-04-01T04:26:59.716" v="585" actId="14100"/>
        <pc:sldMkLst>
          <pc:docMk/>
          <pc:sldMk cId="3704720169" sldId="261"/>
        </pc:sldMkLst>
        <pc:spChg chg="add mod">
          <ac:chgData name="Shobhit Chourasia" userId="594168a1ef3cfede" providerId="LiveId" clId="{E7B9D431-445E-4F2E-8DDE-92847F70151A}" dt="2026-04-01T04:26:34.654" v="583" actId="1076"/>
          <ac:spMkLst>
            <pc:docMk/>
            <pc:sldMk cId="3704720169" sldId="261"/>
            <ac:spMk id="4" creationId="{2870EA69-AB89-E5E9-8765-DA8A2B97B3B5}"/>
          </ac:spMkLst>
        </pc:spChg>
        <pc:spChg chg="add mod ord">
          <ac:chgData name="Shobhit Chourasia" userId="594168a1ef3cfede" providerId="LiveId" clId="{E7B9D431-445E-4F2E-8DDE-92847F70151A}" dt="2026-04-01T04:26:59.716" v="585" actId="14100"/>
          <ac:spMkLst>
            <pc:docMk/>
            <pc:sldMk cId="3704720169" sldId="261"/>
            <ac:spMk id="5" creationId="{DAE27B6C-C165-F374-76B9-CA91D06C0F5E}"/>
          </ac:spMkLst>
        </pc:spChg>
        <pc:picChg chg="add mod">
          <ac:chgData name="Shobhit Chourasia" userId="594168a1ef3cfede" providerId="LiveId" clId="{E7B9D431-445E-4F2E-8DDE-92847F70151A}" dt="2026-04-01T04:25:42.734" v="580" actId="14100"/>
          <ac:picMkLst>
            <pc:docMk/>
            <pc:sldMk cId="3704720169" sldId="261"/>
            <ac:picMk id="3" creationId="{9281A1D1-7AF6-36FB-9D19-A9557DCB561B}"/>
          </ac:picMkLst>
        </pc:picChg>
      </pc:sldChg>
      <pc:sldChg chg="addSp modSp new mod setBg">
        <pc:chgData name="Shobhit Chourasia" userId="594168a1ef3cfede" providerId="LiveId" clId="{E7B9D431-445E-4F2E-8DDE-92847F70151A}" dt="2026-04-01T04:34:54.546" v="684" actId="1076"/>
        <pc:sldMkLst>
          <pc:docMk/>
          <pc:sldMk cId="1507608706" sldId="262"/>
        </pc:sldMkLst>
        <pc:spChg chg="add mod">
          <ac:chgData name="Shobhit Chourasia" userId="594168a1ef3cfede" providerId="LiveId" clId="{E7B9D431-445E-4F2E-8DDE-92847F70151A}" dt="2026-04-01T04:34:09.646" v="659" actId="1076"/>
          <ac:spMkLst>
            <pc:docMk/>
            <pc:sldMk cId="1507608706" sldId="262"/>
            <ac:spMk id="2" creationId="{CC7277CB-21FB-CFE4-A1CF-7149D8BEFE87}"/>
          </ac:spMkLst>
        </pc:spChg>
        <pc:spChg chg="add mod">
          <ac:chgData name="Shobhit Chourasia" userId="594168a1ef3cfede" providerId="LiveId" clId="{E7B9D431-445E-4F2E-8DDE-92847F70151A}" dt="2026-04-01T04:34:54.546" v="684" actId="1076"/>
          <ac:spMkLst>
            <pc:docMk/>
            <pc:sldMk cId="1507608706" sldId="262"/>
            <ac:spMk id="3" creationId="{E1A60EA1-CE19-B4DB-FF6D-61A5409860E8}"/>
          </ac:spMkLst>
        </pc:spChg>
      </pc:sldChg>
      <pc:sldChg chg="addSp modSp new mod">
        <pc:chgData name="Shobhit Chourasia" userId="594168a1ef3cfede" providerId="LiveId" clId="{E7B9D431-445E-4F2E-8DDE-92847F70151A}" dt="2026-04-01T05:46:17.309" v="772" actId="14100"/>
        <pc:sldMkLst>
          <pc:docMk/>
          <pc:sldMk cId="283484581" sldId="263"/>
        </pc:sldMkLst>
        <pc:spChg chg="add mod">
          <ac:chgData name="Shobhit Chourasia" userId="594168a1ef3cfede" providerId="LiveId" clId="{E7B9D431-445E-4F2E-8DDE-92847F70151A}" dt="2026-04-01T05:34:11.306" v="692" actId="13822"/>
          <ac:spMkLst>
            <pc:docMk/>
            <pc:sldMk cId="283484581" sldId="263"/>
            <ac:spMk id="2" creationId="{B0C77552-6B4D-ED47-5972-64035788AD30}"/>
          </ac:spMkLst>
        </pc:spChg>
        <pc:spChg chg="add mod">
          <ac:chgData name="Shobhit Chourasia" userId="594168a1ef3cfede" providerId="LiveId" clId="{E7B9D431-445E-4F2E-8DDE-92847F70151A}" dt="2026-04-01T05:35:05.344" v="738" actId="1076"/>
          <ac:spMkLst>
            <pc:docMk/>
            <pc:sldMk cId="283484581" sldId="263"/>
            <ac:spMk id="3" creationId="{D36083AD-3653-E93D-E4AC-5688E6CA89CE}"/>
          </ac:spMkLst>
        </pc:spChg>
        <pc:picChg chg="add mod">
          <ac:chgData name="Shobhit Chourasia" userId="594168a1ef3cfede" providerId="LiveId" clId="{E7B9D431-445E-4F2E-8DDE-92847F70151A}" dt="2026-04-01T05:43:39.052" v="753" actId="1076"/>
          <ac:picMkLst>
            <pc:docMk/>
            <pc:sldMk cId="283484581" sldId="263"/>
            <ac:picMk id="5" creationId="{5BE5610B-F6BF-DEC8-2FB5-3F08C5D5FAF8}"/>
          </ac:picMkLst>
        </pc:picChg>
        <pc:picChg chg="add mod">
          <ac:chgData name="Shobhit Chourasia" userId="594168a1ef3cfede" providerId="LiveId" clId="{E7B9D431-445E-4F2E-8DDE-92847F70151A}" dt="2026-04-01T05:43:41.500" v="754" actId="1076"/>
          <ac:picMkLst>
            <pc:docMk/>
            <pc:sldMk cId="283484581" sldId="263"/>
            <ac:picMk id="7" creationId="{134CB035-42D6-1D93-51AA-840321675AA0}"/>
          </ac:picMkLst>
        </pc:picChg>
        <pc:picChg chg="add mod">
          <ac:chgData name="Shobhit Chourasia" userId="594168a1ef3cfede" providerId="LiveId" clId="{E7B9D431-445E-4F2E-8DDE-92847F70151A}" dt="2026-04-01T05:46:17.309" v="772" actId="14100"/>
          <ac:picMkLst>
            <pc:docMk/>
            <pc:sldMk cId="283484581" sldId="263"/>
            <ac:picMk id="9" creationId="{40A6AAE6-C15B-ECCB-CBE4-5DFD58E42FBD}"/>
          </ac:picMkLst>
        </pc:picChg>
        <pc:picChg chg="add mod">
          <ac:chgData name="Shobhit Chourasia" userId="594168a1ef3cfede" providerId="LiveId" clId="{E7B9D431-445E-4F2E-8DDE-92847F70151A}" dt="2026-04-01T05:46:06.972" v="770" actId="14100"/>
          <ac:picMkLst>
            <pc:docMk/>
            <pc:sldMk cId="283484581" sldId="263"/>
            <ac:picMk id="11" creationId="{91D47BFB-18BE-A0A3-1EBD-CAE54CB5A8AD}"/>
          </ac:picMkLst>
        </pc:picChg>
      </pc:sldChg>
      <pc:sldChg chg="addSp modSp new mod">
        <pc:chgData name="Shobhit Chourasia" userId="594168a1ef3cfede" providerId="LiveId" clId="{E7B9D431-445E-4F2E-8DDE-92847F70151A}" dt="2026-04-01T07:07:21.266" v="828" actId="1076"/>
        <pc:sldMkLst>
          <pc:docMk/>
          <pc:sldMk cId="1989105508" sldId="264"/>
        </pc:sldMkLst>
        <pc:spChg chg="add mod">
          <ac:chgData name="Shobhit Chourasia" userId="594168a1ef3cfede" providerId="LiveId" clId="{E7B9D431-445E-4F2E-8DDE-92847F70151A}" dt="2026-04-01T07:02:06.011" v="784" actId="14100"/>
          <ac:spMkLst>
            <pc:docMk/>
            <pc:sldMk cId="1989105508" sldId="264"/>
            <ac:spMk id="2" creationId="{37E757C5-A3C9-DEB6-7BD7-ABCF025F3615}"/>
          </ac:spMkLst>
        </pc:spChg>
        <pc:spChg chg="add mod">
          <ac:chgData name="Shobhit Chourasia" userId="594168a1ef3cfede" providerId="LiveId" clId="{E7B9D431-445E-4F2E-8DDE-92847F70151A}" dt="2026-04-01T07:03:07.602" v="810" actId="1076"/>
          <ac:spMkLst>
            <pc:docMk/>
            <pc:sldMk cId="1989105508" sldId="264"/>
            <ac:spMk id="3" creationId="{22B2D5E0-301C-751D-9CB8-6C4C67334A19}"/>
          </ac:spMkLst>
        </pc:spChg>
        <pc:picChg chg="add mod">
          <ac:chgData name="Shobhit Chourasia" userId="594168a1ef3cfede" providerId="LiveId" clId="{E7B9D431-445E-4F2E-8DDE-92847F70151A}" dt="2026-04-01T07:06:47.202" v="823" actId="1076"/>
          <ac:picMkLst>
            <pc:docMk/>
            <pc:sldMk cId="1989105508" sldId="264"/>
            <ac:picMk id="5" creationId="{AA57EB9F-B830-DAAE-981C-19627EA40C7E}"/>
          </ac:picMkLst>
        </pc:picChg>
        <pc:picChg chg="add mod">
          <ac:chgData name="Shobhit Chourasia" userId="594168a1ef3cfede" providerId="LiveId" clId="{E7B9D431-445E-4F2E-8DDE-92847F70151A}" dt="2026-04-01T07:06:42.790" v="822" actId="1076"/>
          <ac:picMkLst>
            <pc:docMk/>
            <pc:sldMk cId="1989105508" sldId="264"/>
            <ac:picMk id="7" creationId="{5E357B07-A012-E1D9-AD7B-E6F35C7854A6}"/>
          </ac:picMkLst>
        </pc:picChg>
        <pc:picChg chg="add mod">
          <ac:chgData name="Shobhit Chourasia" userId="594168a1ef3cfede" providerId="LiveId" clId="{E7B9D431-445E-4F2E-8DDE-92847F70151A}" dt="2026-04-01T07:07:21.266" v="828" actId="1076"/>
          <ac:picMkLst>
            <pc:docMk/>
            <pc:sldMk cId="1989105508" sldId="264"/>
            <ac:picMk id="9" creationId="{53D55659-1E0B-73FA-FD3C-B7AF7C20CEC9}"/>
          </ac:picMkLst>
        </pc:picChg>
      </pc:sldChg>
      <pc:sldChg chg="new del setBg">
        <pc:chgData name="Shobhit Chourasia" userId="594168a1ef3cfede" providerId="LiveId" clId="{E7B9D431-445E-4F2E-8DDE-92847F70151A}" dt="2026-04-01T07:00:03.813" v="777" actId="2696"/>
        <pc:sldMkLst>
          <pc:docMk/>
          <pc:sldMk cId="2422284886"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5098A-E451-E5D0-1A09-98C606B1A2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2D841D-BF01-DC76-5F44-859A838B39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A33C58-2077-DE61-64EB-5BDA8BED58B6}"/>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5" name="Footer Placeholder 4">
            <a:extLst>
              <a:ext uri="{FF2B5EF4-FFF2-40B4-BE49-F238E27FC236}">
                <a16:creationId xmlns:a16="http://schemas.microsoft.com/office/drawing/2014/main" id="{5ADD8667-07E0-1B66-64D5-49CAEA83BB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74BEB3-81EB-EE80-EA49-1D988F188316}"/>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1814129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EECC2-2BF6-A07B-8136-740E50A629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EA75C2-D3E3-C716-F8DB-701E1B9816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9B11C2-979D-D838-BCC0-BEB66B6D9DB9}"/>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5" name="Footer Placeholder 4">
            <a:extLst>
              <a:ext uri="{FF2B5EF4-FFF2-40B4-BE49-F238E27FC236}">
                <a16:creationId xmlns:a16="http://schemas.microsoft.com/office/drawing/2014/main" id="{DCC657BC-A975-1FBB-1101-10E75FE5D1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D45660-5866-2A92-61AF-7E3457DDCC9F}"/>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1550571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4F0C-59FB-B12B-87F9-21016D6BBA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8CDFA90-6085-B193-39E8-2BD80242DD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14190E-16C8-3175-E3E1-58530E6B6966}"/>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5" name="Footer Placeholder 4">
            <a:extLst>
              <a:ext uri="{FF2B5EF4-FFF2-40B4-BE49-F238E27FC236}">
                <a16:creationId xmlns:a16="http://schemas.microsoft.com/office/drawing/2014/main" id="{A29B2FC5-40FE-CCE3-E074-C78492E4AE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6491D1-8E28-E55A-6DD2-5FA2B56CD2B7}"/>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1142210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746B0-3B0E-8FB1-0F30-CC0081C8B1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D071DC-3C93-6446-1050-157AF2A7D8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8CC120-96E1-4696-7620-D7E0D4B09C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8AD500-19F7-4EB0-6095-79598F187859}"/>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6" name="Footer Placeholder 5">
            <a:extLst>
              <a:ext uri="{FF2B5EF4-FFF2-40B4-BE49-F238E27FC236}">
                <a16:creationId xmlns:a16="http://schemas.microsoft.com/office/drawing/2014/main" id="{724A46BC-B932-6EAB-50E6-F79E9E1805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277F3F-B27C-5A2F-F635-D44394451D11}"/>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2622104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B1894-E199-5C6D-6C25-87EC653A01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F11F27-6189-B582-49E9-ADC53ED039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BD82C0-0BF4-360A-E9F5-9E20CA42FF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B70F9D-EE14-B01E-1035-8713D72516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950C08-1C57-BD46-C620-B8C0EEADC4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539D79-D615-F025-D44F-65E3620AB421}"/>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8" name="Footer Placeholder 7">
            <a:extLst>
              <a:ext uri="{FF2B5EF4-FFF2-40B4-BE49-F238E27FC236}">
                <a16:creationId xmlns:a16="http://schemas.microsoft.com/office/drawing/2014/main" id="{19CE4BEB-EAA8-4B2D-50C1-26C59E1FDF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E4DB1D-8925-9DC2-74EE-62EC9432B072}"/>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19519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A8D20-3715-23E4-4019-241398D726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53442C-F9EE-57E1-4A0B-603759E8FAB3}"/>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4" name="Footer Placeholder 3">
            <a:extLst>
              <a:ext uri="{FF2B5EF4-FFF2-40B4-BE49-F238E27FC236}">
                <a16:creationId xmlns:a16="http://schemas.microsoft.com/office/drawing/2014/main" id="{851C31A9-4021-6790-8CF4-64D0F589AC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7BB4DEB-9938-8C74-305E-AEF9ADE6EB66}"/>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1703506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DD99A4-43BF-6F9B-3287-30197879961C}"/>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3" name="Footer Placeholder 2">
            <a:extLst>
              <a:ext uri="{FF2B5EF4-FFF2-40B4-BE49-F238E27FC236}">
                <a16:creationId xmlns:a16="http://schemas.microsoft.com/office/drawing/2014/main" id="{7E113A18-8B60-8410-48A8-7098D771B0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03D69B7-F793-562A-0B81-6EAB10909365}"/>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2273125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FF726-FE08-2F86-B5DE-722A2D2614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F70E50-5296-BEFD-0F48-A3644603C2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5A6BCC-5373-418D-27BF-B00670C3D2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08C37D-534B-374B-8403-F9DD13DE9D63}"/>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6" name="Footer Placeholder 5">
            <a:extLst>
              <a:ext uri="{FF2B5EF4-FFF2-40B4-BE49-F238E27FC236}">
                <a16:creationId xmlns:a16="http://schemas.microsoft.com/office/drawing/2014/main" id="{E3AC2DA2-9E8E-A615-8693-3A2F35B66E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6168F-EC26-37E8-C9CB-C79632539235}"/>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1392841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3745-C7B7-4190-095D-604F650D60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C653275-A278-E096-7B0E-A026731FEB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7869258-10A6-929B-DFEC-E680C762F0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89CD21-A5C4-7509-EB11-1B5873E0D526}"/>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6" name="Footer Placeholder 5">
            <a:extLst>
              <a:ext uri="{FF2B5EF4-FFF2-40B4-BE49-F238E27FC236}">
                <a16:creationId xmlns:a16="http://schemas.microsoft.com/office/drawing/2014/main" id="{8EB76CAF-936D-DED1-9E0E-7C1E58676E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53864F-3D54-54FD-9B59-8C6CEA5D0CE8}"/>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2133186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52EC5-32EE-B640-B96F-EC1311A9ED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25B1B2-0D38-7156-1672-35345F2298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3C52DA-C5A6-D135-C9E7-CD01A3763D5E}"/>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5" name="Footer Placeholder 4">
            <a:extLst>
              <a:ext uri="{FF2B5EF4-FFF2-40B4-BE49-F238E27FC236}">
                <a16:creationId xmlns:a16="http://schemas.microsoft.com/office/drawing/2014/main" id="{BBE35C8C-BF60-D32E-8A9D-2213DAAD69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E75D4E-9454-593C-93AE-B5F059C40B2D}"/>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790646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555B3F-3A7B-F37B-6ED0-50A0C6E864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A06506-AB02-4E8A-91F5-F56A39F713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ACD287-754E-A87F-6C55-68C22F6F8394}"/>
              </a:ext>
            </a:extLst>
          </p:cNvPr>
          <p:cNvSpPr>
            <a:spLocks noGrp="1"/>
          </p:cNvSpPr>
          <p:nvPr>
            <p:ph type="dt" sz="half" idx="10"/>
          </p:nvPr>
        </p:nvSpPr>
        <p:spPr/>
        <p:txBody>
          <a:bodyPr/>
          <a:lstStyle/>
          <a:p>
            <a:fld id="{93D453E7-FB88-48CE-A2AA-C194CF65D834}" type="datetimeFigureOut">
              <a:rPr lang="en-IN" smtClean="0"/>
              <a:t>01-04-2026</a:t>
            </a:fld>
            <a:endParaRPr lang="en-IN"/>
          </a:p>
        </p:txBody>
      </p:sp>
      <p:sp>
        <p:nvSpPr>
          <p:cNvPr id="5" name="Footer Placeholder 4">
            <a:extLst>
              <a:ext uri="{FF2B5EF4-FFF2-40B4-BE49-F238E27FC236}">
                <a16:creationId xmlns:a16="http://schemas.microsoft.com/office/drawing/2014/main" id="{8EE074D8-A10C-8524-3A06-5866418F7C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E34E72-F768-2227-A503-692FAF4CCFDE}"/>
              </a:ext>
            </a:extLst>
          </p:cNvPr>
          <p:cNvSpPr>
            <a:spLocks noGrp="1"/>
          </p:cNvSpPr>
          <p:nvPr>
            <p:ph type="sldNum" sz="quarter" idx="12"/>
          </p:nvPr>
        </p:nvSpPr>
        <p:spPr/>
        <p:txBody>
          <a:bodyPr/>
          <a:lstStyle/>
          <a:p>
            <a:fld id="{A3779C79-337D-4B7B-8635-FE760DD0A756}" type="slidenum">
              <a:rPr lang="en-IN" smtClean="0"/>
              <a:t>‹#›</a:t>
            </a:fld>
            <a:endParaRPr lang="en-IN"/>
          </a:p>
        </p:txBody>
      </p:sp>
    </p:spTree>
    <p:extLst>
      <p:ext uri="{BB962C8B-B14F-4D97-AF65-F5344CB8AC3E}">
        <p14:creationId xmlns:p14="http://schemas.microsoft.com/office/powerpoint/2010/main" val="3341704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C57FC2-22F5-F6C1-BFD0-EB22306D2B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8CF616-A639-C742-7376-9013C65F7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D72AAE-0295-BAB5-B8D7-D3682DB281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D453E7-FB88-48CE-A2AA-C194CF65D834}" type="datetimeFigureOut">
              <a:rPr lang="en-IN" smtClean="0"/>
              <a:t>01-04-2026</a:t>
            </a:fld>
            <a:endParaRPr lang="en-IN"/>
          </a:p>
        </p:txBody>
      </p:sp>
      <p:sp>
        <p:nvSpPr>
          <p:cNvPr id="5" name="Footer Placeholder 4">
            <a:extLst>
              <a:ext uri="{FF2B5EF4-FFF2-40B4-BE49-F238E27FC236}">
                <a16:creationId xmlns:a16="http://schemas.microsoft.com/office/drawing/2014/main" id="{6D5B2413-F3CD-11FF-404A-F12BC7F9F1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27DA98B-D823-2F5D-EB02-A5DC439997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779C79-337D-4B7B-8635-FE760DD0A756}" type="slidenum">
              <a:rPr lang="en-IN" smtClean="0"/>
              <a:t>‹#›</a:t>
            </a:fld>
            <a:endParaRPr lang="en-IN"/>
          </a:p>
        </p:txBody>
      </p:sp>
    </p:spTree>
    <p:extLst>
      <p:ext uri="{BB962C8B-B14F-4D97-AF65-F5344CB8AC3E}">
        <p14:creationId xmlns:p14="http://schemas.microsoft.com/office/powerpoint/2010/main" val="3516383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9000"/>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B81402-7498-9511-8AEC-FF593F72CD4C}"/>
              </a:ext>
            </a:extLst>
          </p:cNvPr>
          <p:cNvSpPr txBox="1"/>
          <p:nvPr/>
        </p:nvSpPr>
        <p:spPr>
          <a:xfrm>
            <a:off x="578997" y="190500"/>
            <a:ext cx="11262605" cy="615553"/>
          </a:xfrm>
          <a:prstGeom prst="rect">
            <a:avLst/>
          </a:prstGeom>
          <a:noFill/>
        </p:spPr>
        <p:txBody>
          <a:bodyPr wrap="square" rtlCol="0">
            <a:spAutoFit/>
          </a:bodyPr>
          <a:lstStyle/>
          <a:p>
            <a:r>
              <a:rPr lang="en-US" sz="3400" dirty="0">
                <a:solidFill>
                  <a:schemeClr val="bg1"/>
                </a:solidFill>
              </a:rPr>
              <a:t>CAPSTONE PROJECT -  NORTHWIND TRADERS SALES ANALYSIS</a:t>
            </a:r>
            <a:endParaRPr lang="en-IN" sz="3400" dirty="0">
              <a:solidFill>
                <a:schemeClr val="bg1"/>
              </a:solidFill>
            </a:endParaRPr>
          </a:p>
        </p:txBody>
      </p:sp>
      <p:sp>
        <p:nvSpPr>
          <p:cNvPr id="6" name="TextBox 5">
            <a:extLst>
              <a:ext uri="{FF2B5EF4-FFF2-40B4-BE49-F238E27FC236}">
                <a16:creationId xmlns:a16="http://schemas.microsoft.com/office/drawing/2014/main" id="{F9349F74-017D-6292-2B1F-20912A1C6DB0}"/>
              </a:ext>
            </a:extLst>
          </p:cNvPr>
          <p:cNvSpPr txBox="1"/>
          <p:nvPr/>
        </p:nvSpPr>
        <p:spPr>
          <a:xfrm>
            <a:off x="771525" y="6067425"/>
            <a:ext cx="1966757" cy="307777"/>
          </a:xfrm>
          <a:prstGeom prst="rect">
            <a:avLst/>
          </a:prstGeom>
          <a:noFill/>
        </p:spPr>
        <p:txBody>
          <a:bodyPr wrap="none" rtlCol="0">
            <a:spAutoFit/>
          </a:bodyPr>
          <a:lstStyle/>
          <a:p>
            <a:r>
              <a:rPr lang="en-US" sz="1400" dirty="0">
                <a:solidFill>
                  <a:schemeClr val="bg1"/>
                </a:solidFill>
              </a:rPr>
              <a:t>MICROSOFT | POWER BI</a:t>
            </a:r>
            <a:endParaRPr lang="en-IN" sz="1400" dirty="0"/>
          </a:p>
        </p:txBody>
      </p:sp>
    </p:spTree>
    <p:extLst>
      <p:ext uri="{BB962C8B-B14F-4D97-AF65-F5344CB8AC3E}">
        <p14:creationId xmlns:p14="http://schemas.microsoft.com/office/powerpoint/2010/main" val="804021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9000"/>
            <a:lum/>
          </a:blip>
          <a:srcRect/>
          <a:stretch>
            <a:fillRect/>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FCBC49B-91E8-0EA6-FF33-72DA5DFD59D0}"/>
              </a:ext>
            </a:extLst>
          </p:cNvPr>
          <p:cNvGrpSpPr/>
          <p:nvPr/>
        </p:nvGrpSpPr>
        <p:grpSpPr>
          <a:xfrm>
            <a:off x="5193070" y="72053"/>
            <a:ext cx="1990725" cy="469940"/>
            <a:chOff x="76199" y="115550"/>
            <a:chExt cx="1990725" cy="469940"/>
          </a:xfrm>
        </p:grpSpPr>
        <p:sp>
          <p:nvSpPr>
            <p:cNvPr id="3" name="Rectangle 2">
              <a:extLst>
                <a:ext uri="{FF2B5EF4-FFF2-40B4-BE49-F238E27FC236}">
                  <a16:creationId xmlns:a16="http://schemas.microsoft.com/office/drawing/2014/main" id="{A0758099-1EDA-0BF2-BB0A-C1CF0FB73F5E}"/>
                </a:ext>
              </a:extLst>
            </p:cNvPr>
            <p:cNvSpPr/>
            <p:nvPr/>
          </p:nvSpPr>
          <p:spPr>
            <a:xfrm>
              <a:off x="76199" y="123825"/>
              <a:ext cx="1990725" cy="46166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2" name="TextBox 1">
              <a:extLst>
                <a:ext uri="{FF2B5EF4-FFF2-40B4-BE49-F238E27FC236}">
                  <a16:creationId xmlns:a16="http://schemas.microsoft.com/office/drawing/2014/main" id="{81233D25-713C-8481-3B30-AB93D6D66CF8}"/>
                </a:ext>
              </a:extLst>
            </p:cNvPr>
            <p:cNvSpPr txBox="1"/>
            <p:nvPr/>
          </p:nvSpPr>
          <p:spPr>
            <a:xfrm>
              <a:off x="76199" y="115550"/>
              <a:ext cx="1990725" cy="461665"/>
            </a:xfrm>
            <a:prstGeom prst="rect">
              <a:avLst/>
            </a:prstGeom>
            <a:noFill/>
            <a:effectLst>
              <a:softEdge rad="0"/>
            </a:effectLst>
          </p:spPr>
          <p:txBody>
            <a:bodyPr wrap="square" rtlCol="0">
              <a:spAutoFit/>
            </a:bodyPr>
            <a:lstStyle/>
            <a:p>
              <a:r>
                <a:rPr lang="en-US" sz="2400" dirty="0"/>
                <a:t>PUBLICATIONS</a:t>
              </a:r>
              <a:endParaRPr lang="en-IN" sz="2400" dirty="0"/>
            </a:p>
          </p:txBody>
        </p:sp>
      </p:grpSp>
      <p:grpSp>
        <p:nvGrpSpPr>
          <p:cNvPr id="19" name="Group 18">
            <a:extLst>
              <a:ext uri="{FF2B5EF4-FFF2-40B4-BE49-F238E27FC236}">
                <a16:creationId xmlns:a16="http://schemas.microsoft.com/office/drawing/2014/main" id="{4AE53B31-3265-7891-64BD-8AC3EC228AE6}"/>
              </a:ext>
            </a:extLst>
          </p:cNvPr>
          <p:cNvGrpSpPr/>
          <p:nvPr/>
        </p:nvGrpSpPr>
        <p:grpSpPr>
          <a:xfrm>
            <a:off x="163814" y="2392576"/>
            <a:ext cx="1912631" cy="669266"/>
            <a:chOff x="87616" y="814118"/>
            <a:chExt cx="1912631" cy="669266"/>
          </a:xfrm>
        </p:grpSpPr>
        <p:sp>
          <p:nvSpPr>
            <p:cNvPr id="7" name="Flowchart: Terminator 6">
              <a:extLst>
                <a:ext uri="{FF2B5EF4-FFF2-40B4-BE49-F238E27FC236}">
                  <a16:creationId xmlns:a16="http://schemas.microsoft.com/office/drawing/2014/main" id="{D845A188-FA86-143F-612D-9C9369EB3751}"/>
                </a:ext>
              </a:extLst>
            </p:cNvPr>
            <p:cNvSpPr/>
            <p:nvPr/>
          </p:nvSpPr>
          <p:spPr>
            <a:xfrm>
              <a:off x="87616" y="814118"/>
              <a:ext cx="1912631" cy="669266"/>
            </a:xfrm>
            <a:prstGeom prst="flowChartTerminato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467C2BD1-C1CA-325F-9459-4520339CA9E1}"/>
                </a:ext>
              </a:extLst>
            </p:cNvPr>
            <p:cNvSpPr txBox="1"/>
            <p:nvPr/>
          </p:nvSpPr>
          <p:spPr>
            <a:xfrm>
              <a:off x="454081" y="1002557"/>
              <a:ext cx="1179690" cy="307777"/>
            </a:xfrm>
            <a:prstGeom prst="rect">
              <a:avLst/>
            </a:prstGeom>
            <a:noFill/>
          </p:spPr>
          <p:txBody>
            <a:bodyPr wrap="square" rtlCol="0">
              <a:spAutoFit/>
            </a:bodyPr>
            <a:lstStyle/>
            <a:p>
              <a:r>
                <a:rPr lang="en-US" sz="1300" dirty="0"/>
                <a:t>Sales </a:t>
              </a:r>
              <a:r>
                <a:rPr lang="en-US" sz="1400" dirty="0"/>
                <a:t>Analysis</a:t>
              </a:r>
              <a:endParaRPr lang="en-IN" sz="1400" dirty="0"/>
            </a:p>
          </p:txBody>
        </p:sp>
      </p:grpSp>
      <p:grpSp>
        <p:nvGrpSpPr>
          <p:cNvPr id="20" name="Group 19">
            <a:extLst>
              <a:ext uri="{FF2B5EF4-FFF2-40B4-BE49-F238E27FC236}">
                <a16:creationId xmlns:a16="http://schemas.microsoft.com/office/drawing/2014/main" id="{45290BC0-3675-7712-9F3C-BCFD09B186C3}"/>
              </a:ext>
            </a:extLst>
          </p:cNvPr>
          <p:cNvGrpSpPr/>
          <p:nvPr/>
        </p:nvGrpSpPr>
        <p:grpSpPr>
          <a:xfrm>
            <a:off x="163814" y="3490694"/>
            <a:ext cx="1912631" cy="669266"/>
            <a:chOff x="87614" y="2077613"/>
            <a:chExt cx="1912631" cy="669266"/>
          </a:xfrm>
        </p:grpSpPr>
        <p:sp>
          <p:nvSpPr>
            <p:cNvPr id="13" name="Flowchart: Terminator 12">
              <a:extLst>
                <a:ext uri="{FF2B5EF4-FFF2-40B4-BE49-F238E27FC236}">
                  <a16:creationId xmlns:a16="http://schemas.microsoft.com/office/drawing/2014/main" id="{6F3747DC-E4AF-D564-A133-EA4473E923E9}"/>
                </a:ext>
              </a:extLst>
            </p:cNvPr>
            <p:cNvSpPr/>
            <p:nvPr/>
          </p:nvSpPr>
          <p:spPr>
            <a:xfrm>
              <a:off x="87614" y="2077613"/>
              <a:ext cx="1912631" cy="669266"/>
            </a:xfrm>
            <a:prstGeom prst="flowChartTerminato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5" name="TextBox 14">
              <a:extLst>
                <a:ext uri="{FF2B5EF4-FFF2-40B4-BE49-F238E27FC236}">
                  <a16:creationId xmlns:a16="http://schemas.microsoft.com/office/drawing/2014/main" id="{D8FC2479-57E0-E557-EEFE-59B40CB3D137}"/>
                </a:ext>
              </a:extLst>
            </p:cNvPr>
            <p:cNvSpPr txBox="1"/>
            <p:nvPr/>
          </p:nvSpPr>
          <p:spPr>
            <a:xfrm>
              <a:off x="308950" y="2266052"/>
              <a:ext cx="1546161" cy="292388"/>
            </a:xfrm>
            <a:prstGeom prst="rect">
              <a:avLst/>
            </a:prstGeom>
            <a:noFill/>
          </p:spPr>
          <p:txBody>
            <a:bodyPr wrap="square" rtlCol="0">
              <a:spAutoFit/>
            </a:bodyPr>
            <a:lstStyle/>
            <a:p>
              <a:r>
                <a:rPr lang="en-US" sz="1300" dirty="0"/>
                <a:t>Customer Analysis</a:t>
              </a:r>
              <a:endParaRPr lang="en-IN" sz="1300" dirty="0"/>
            </a:p>
          </p:txBody>
        </p:sp>
      </p:grpSp>
      <p:grpSp>
        <p:nvGrpSpPr>
          <p:cNvPr id="21" name="Group 20">
            <a:extLst>
              <a:ext uri="{FF2B5EF4-FFF2-40B4-BE49-F238E27FC236}">
                <a16:creationId xmlns:a16="http://schemas.microsoft.com/office/drawing/2014/main" id="{6A48D397-757E-BA99-B21E-E66A9406E715}"/>
              </a:ext>
            </a:extLst>
          </p:cNvPr>
          <p:cNvGrpSpPr/>
          <p:nvPr/>
        </p:nvGrpSpPr>
        <p:grpSpPr>
          <a:xfrm>
            <a:off x="163814" y="4572753"/>
            <a:ext cx="1912631" cy="669266"/>
            <a:chOff x="87611" y="3441856"/>
            <a:chExt cx="1912631" cy="669266"/>
          </a:xfrm>
        </p:grpSpPr>
        <p:sp>
          <p:nvSpPr>
            <p:cNvPr id="14" name="Flowchart: Terminator 13">
              <a:extLst>
                <a:ext uri="{FF2B5EF4-FFF2-40B4-BE49-F238E27FC236}">
                  <a16:creationId xmlns:a16="http://schemas.microsoft.com/office/drawing/2014/main" id="{F4CA664B-1A83-90E4-45AD-153B33D9F1F1}"/>
                </a:ext>
              </a:extLst>
            </p:cNvPr>
            <p:cNvSpPr/>
            <p:nvPr/>
          </p:nvSpPr>
          <p:spPr>
            <a:xfrm>
              <a:off x="87611" y="3441856"/>
              <a:ext cx="1912631" cy="669266"/>
            </a:xfrm>
            <a:prstGeom prst="flowChartTerminato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6" name="TextBox 15">
              <a:extLst>
                <a:ext uri="{FF2B5EF4-FFF2-40B4-BE49-F238E27FC236}">
                  <a16:creationId xmlns:a16="http://schemas.microsoft.com/office/drawing/2014/main" id="{F5442604-963F-5465-84BB-25C34B785D6F}"/>
                </a:ext>
              </a:extLst>
            </p:cNvPr>
            <p:cNvSpPr txBox="1"/>
            <p:nvPr/>
          </p:nvSpPr>
          <p:spPr>
            <a:xfrm>
              <a:off x="308950" y="3630295"/>
              <a:ext cx="1622367" cy="292388"/>
            </a:xfrm>
            <a:prstGeom prst="rect">
              <a:avLst/>
            </a:prstGeom>
            <a:noFill/>
          </p:spPr>
          <p:txBody>
            <a:bodyPr wrap="square" rtlCol="0">
              <a:spAutoFit/>
            </a:bodyPr>
            <a:lstStyle/>
            <a:p>
              <a:r>
                <a:rPr lang="en-US" sz="1300" dirty="0"/>
                <a:t>Employee Analysis</a:t>
              </a:r>
              <a:endParaRPr lang="en-IN" sz="1300" dirty="0"/>
            </a:p>
          </p:txBody>
        </p:sp>
      </p:grpSp>
      <p:grpSp>
        <p:nvGrpSpPr>
          <p:cNvPr id="25" name="Group 24">
            <a:extLst>
              <a:ext uri="{FF2B5EF4-FFF2-40B4-BE49-F238E27FC236}">
                <a16:creationId xmlns:a16="http://schemas.microsoft.com/office/drawing/2014/main" id="{881891FA-69D3-1C4F-448A-96B406770274}"/>
              </a:ext>
            </a:extLst>
          </p:cNvPr>
          <p:cNvGrpSpPr/>
          <p:nvPr/>
        </p:nvGrpSpPr>
        <p:grpSpPr>
          <a:xfrm>
            <a:off x="163814" y="5775217"/>
            <a:ext cx="1912631" cy="669266"/>
            <a:chOff x="87611" y="4806099"/>
            <a:chExt cx="1912631" cy="669266"/>
          </a:xfrm>
        </p:grpSpPr>
        <p:sp>
          <p:nvSpPr>
            <p:cNvPr id="17" name="Flowchart: Terminator 16">
              <a:extLst>
                <a:ext uri="{FF2B5EF4-FFF2-40B4-BE49-F238E27FC236}">
                  <a16:creationId xmlns:a16="http://schemas.microsoft.com/office/drawing/2014/main" id="{DC70B836-C361-C986-5934-196BE3235C2A}"/>
                </a:ext>
              </a:extLst>
            </p:cNvPr>
            <p:cNvSpPr/>
            <p:nvPr/>
          </p:nvSpPr>
          <p:spPr>
            <a:xfrm>
              <a:off x="87611" y="4806099"/>
              <a:ext cx="1912631" cy="669266"/>
            </a:xfrm>
            <a:prstGeom prst="flowChartTerminato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8" name="TextBox 17">
              <a:extLst>
                <a:ext uri="{FF2B5EF4-FFF2-40B4-BE49-F238E27FC236}">
                  <a16:creationId xmlns:a16="http://schemas.microsoft.com/office/drawing/2014/main" id="{63EE21B4-23EC-D74D-5993-0E29625ED8B3}"/>
                </a:ext>
              </a:extLst>
            </p:cNvPr>
            <p:cNvSpPr txBox="1"/>
            <p:nvPr/>
          </p:nvSpPr>
          <p:spPr>
            <a:xfrm>
              <a:off x="332806" y="4994538"/>
              <a:ext cx="1574653" cy="292388"/>
            </a:xfrm>
            <a:prstGeom prst="rect">
              <a:avLst/>
            </a:prstGeom>
            <a:noFill/>
          </p:spPr>
          <p:txBody>
            <a:bodyPr wrap="square" rtlCol="0">
              <a:spAutoFit/>
            </a:bodyPr>
            <a:lstStyle/>
            <a:p>
              <a:r>
                <a:rPr lang="en-US" sz="1300" dirty="0"/>
                <a:t>Inventory Analysis</a:t>
              </a:r>
              <a:endParaRPr lang="en-IN" sz="1300" dirty="0"/>
            </a:p>
          </p:txBody>
        </p:sp>
      </p:grpSp>
      <p:sp>
        <p:nvSpPr>
          <p:cNvPr id="32" name="Rectangle 31">
            <a:extLst>
              <a:ext uri="{FF2B5EF4-FFF2-40B4-BE49-F238E27FC236}">
                <a16:creationId xmlns:a16="http://schemas.microsoft.com/office/drawing/2014/main" id="{C0D716C6-9A5E-CB47-6D23-2FF0F368E955}"/>
              </a:ext>
            </a:extLst>
          </p:cNvPr>
          <p:cNvSpPr/>
          <p:nvPr/>
        </p:nvSpPr>
        <p:spPr>
          <a:xfrm>
            <a:off x="2136293" y="742950"/>
            <a:ext cx="10019734" cy="611505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33" name="TextBox 32">
            <a:extLst>
              <a:ext uri="{FF2B5EF4-FFF2-40B4-BE49-F238E27FC236}">
                <a16:creationId xmlns:a16="http://schemas.microsoft.com/office/drawing/2014/main" id="{E3D6EF79-0B84-B384-1DF2-2F7903B34D9E}"/>
              </a:ext>
            </a:extLst>
          </p:cNvPr>
          <p:cNvSpPr txBox="1"/>
          <p:nvPr/>
        </p:nvSpPr>
        <p:spPr>
          <a:xfrm>
            <a:off x="2219325" y="882134"/>
            <a:ext cx="9953056" cy="954107"/>
          </a:xfrm>
          <a:prstGeom prst="rect">
            <a:avLst/>
          </a:prstGeom>
          <a:noFill/>
        </p:spPr>
        <p:txBody>
          <a:bodyPr wrap="square" rtlCol="0">
            <a:spAutoFit/>
          </a:bodyPr>
          <a:lstStyle/>
          <a:p>
            <a:r>
              <a:rPr lang="en-US" sz="1300" dirty="0"/>
              <a:t>Valuable insights :</a:t>
            </a:r>
            <a:r>
              <a:rPr lang="en-US" sz="1400" dirty="0"/>
              <a:t>Our analysis indicates that Northwind Traders is a high-volume business where profitability is heavily dependent on logistical efficiency rather than just sales growth</a:t>
            </a:r>
            <a:r>
              <a:rPr lang="en-US" sz="1400" b="1" dirty="0"/>
              <a:t>.</a:t>
            </a:r>
            <a:r>
              <a:rPr lang="en-US" sz="1400" dirty="0"/>
              <a:t> The data suggests that while we have a strong, consistent demand for core product categories, our overall financial health is dictated by how effectively we manage the "cost-to-serve"—specifically by aligning our inventory levels and shipping strategies with the specific purchasing cycles of our top-tier customers.</a:t>
            </a:r>
            <a:endParaRPr lang="en-IN" sz="1300" dirty="0"/>
          </a:p>
        </p:txBody>
      </p:sp>
      <p:sp>
        <p:nvSpPr>
          <p:cNvPr id="35" name="TextBox 34">
            <a:extLst>
              <a:ext uri="{FF2B5EF4-FFF2-40B4-BE49-F238E27FC236}">
                <a16:creationId xmlns:a16="http://schemas.microsoft.com/office/drawing/2014/main" id="{23D0D564-26F4-0505-11FD-9692AC2E6F02}"/>
              </a:ext>
            </a:extLst>
          </p:cNvPr>
          <p:cNvSpPr txBox="1"/>
          <p:nvPr/>
        </p:nvSpPr>
        <p:spPr>
          <a:xfrm>
            <a:off x="2197458" y="1977227"/>
            <a:ext cx="9972675" cy="738664"/>
          </a:xfrm>
          <a:prstGeom prst="rect">
            <a:avLst/>
          </a:prstGeom>
          <a:noFill/>
        </p:spPr>
        <p:txBody>
          <a:bodyPr wrap="square" rtlCol="0">
            <a:spAutoFit/>
          </a:bodyPr>
          <a:lstStyle/>
          <a:p>
            <a:r>
              <a:rPr lang="en-US" sz="1400" b="1" dirty="0"/>
              <a:t>Sales Trends &amp; Seasonality:</a:t>
            </a:r>
            <a:r>
              <a:rPr lang="en-US" sz="1400" dirty="0"/>
              <a:t> Our data indicates consistent revenue growth, but with sharp seasonal spikes. We've identified that specific product categories drive disproportionate revenue during peak months, suggesting our marketing and stock levels should be synchronized with these recurring cycles rather than maintained at a flat rate year-round.</a:t>
            </a:r>
            <a:endParaRPr lang="en-IN" sz="1400" dirty="0"/>
          </a:p>
        </p:txBody>
      </p:sp>
      <p:sp>
        <p:nvSpPr>
          <p:cNvPr id="39" name="TextBox 38">
            <a:extLst>
              <a:ext uri="{FF2B5EF4-FFF2-40B4-BE49-F238E27FC236}">
                <a16:creationId xmlns:a16="http://schemas.microsoft.com/office/drawing/2014/main" id="{2CAFC1C6-8867-FA93-7E2D-B5583DA508AB}"/>
              </a:ext>
            </a:extLst>
          </p:cNvPr>
          <p:cNvSpPr txBox="1"/>
          <p:nvPr/>
        </p:nvSpPr>
        <p:spPr>
          <a:xfrm>
            <a:off x="2197458" y="2897913"/>
            <a:ext cx="9623067" cy="738664"/>
          </a:xfrm>
          <a:prstGeom prst="rect">
            <a:avLst/>
          </a:prstGeom>
          <a:noFill/>
        </p:spPr>
        <p:txBody>
          <a:bodyPr wrap="square" rtlCol="0">
            <a:spAutoFit/>
          </a:bodyPr>
          <a:lstStyle/>
          <a:p>
            <a:r>
              <a:rPr lang="en-US" sz="1400" b="1" dirty="0"/>
              <a:t>Customer Concentration &amp; Loyalty:</a:t>
            </a:r>
            <a:r>
              <a:rPr lang="en-US" sz="1400" dirty="0"/>
              <a:t> We found that a small percentage of our customer base—the "Vital Few"—contributes to the majority of our total volume. Our analysis shows that retaining these high-value clients is significantly more cost-effective than acquisition, emphasizing a need for personalized loyalty strategies for our top-tier accounts.</a:t>
            </a:r>
            <a:endParaRPr lang="en-IN" sz="1400" dirty="0"/>
          </a:p>
        </p:txBody>
      </p:sp>
      <p:sp>
        <p:nvSpPr>
          <p:cNvPr id="40" name="TextBox 39">
            <a:extLst>
              <a:ext uri="{FF2B5EF4-FFF2-40B4-BE49-F238E27FC236}">
                <a16:creationId xmlns:a16="http://schemas.microsoft.com/office/drawing/2014/main" id="{3E88DAFE-FF13-7CDB-9658-35C8A1D57E94}"/>
              </a:ext>
            </a:extLst>
          </p:cNvPr>
          <p:cNvSpPr txBox="1"/>
          <p:nvPr/>
        </p:nvSpPr>
        <p:spPr>
          <a:xfrm>
            <a:off x="2197458" y="3877040"/>
            <a:ext cx="9727842" cy="738664"/>
          </a:xfrm>
          <a:prstGeom prst="rect">
            <a:avLst/>
          </a:prstGeom>
          <a:noFill/>
        </p:spPr>
        <p:txBody>
          <a:bodyPr wrap="square" rtlCol="0">
            <a:spAutoFit/>
          </a:bodyPr>
          <a:lstStyle/>
          <a:p>
            <a:r>
              <a:rPr lang="en-US" sz="1400" b="1" dirty="0"/>
              <a:t>Employee Impact &amp; Sales Efficiency:</a:t>
            </a:r>
            <a:r>
              <a:rPr lang="en-US" sz="1400" dirty="0"/>
              <a:t> Our analysis reveals a direct correlation between specific sales representatives and high-margin deals. However, we also noticed that higher sales volumes sometimes correlate with higher discount rates, indicating a need to shift employee KPIs from "Total Revenue" to "Gross Profit per Order."</a:t>
            </a:r>
            <a:endParaRPr lang="en-IN" sz="1400" dirty="0"/>
          </a:p>
        </p:txBody>
      </p:sp>
      <p:sp>
        <p:nvSpPr>
          <p:cNvPr id="41" name="TextBox 40">
            <a:extLst>
              <a:ext uri="{FF2B5EF4-FFF2-40B4-BE49-F238E27FC236}">
                <a16:creationId xmlns:a16="http://schemas.microsoft.com/office/drawing/2014/main" id="{D881E1D2-5DCA-5BCF-E5B4-D2F78327B205}"/>
              </a:ext>
            </a:extLst>
          </p:cNvPr>
          <p:cNvSpPr txBox="1"/>
          <p:nvPr/>
        </p:nvSpPr>
        <p:spPr>
          <a:xfrm>
            <a:off x="2197458" y="4764965"/>
            <a:ext cx="9897404" cy="738664"/>
          </a:xfrm>
          <a:prstGeom prst="rect">
            <a:avLst/>
          </a:prstGeom>
          <a:noFill/>
        </p:spPr>
        <p:txBody>
          <a:bodyPr wrap="square" rtlCol="0">
            <a:spAutoFit/>
          </a:bodyPr>
          <a:lstStyle/>
          <a:p>
            <a:r>
              <a:rPr lang="en-US" sz="1400" b="1" dirty="0"/>
              <a:t>Inventory &amp; Fulfillment Optimization:</a:t>
            </a:r>
            <a:r>
              <a:rPr lang="en-US" sz="1400" dirty="0"/>
              <a:t> The dataset highlights a gap between stock availability and order demand. We’ve identified "dead stock" in low-performing categories that ties up capital, while high-demand items occasionally face stockouts, suggesting that automating our reorder points based on historical lead times will immediately improve cash flow.</a:t>
            </a:r>
            <a:endParaRPr lang="en-IN" sz="1400" dirty="0"/>
          </a:p>
        </p:txBody>
      </p:sp>
      <p:sp>
        <p:nvSpPr>
          <p:cNvPr id="42" name="TextBox 41">
            <a:extLst>
              <a:ext uri="{FF2B5EF4-FFF2-40B4-BE49-F238E27FC236}">
                <a16:creationId xmlns:a16="http://schemas.microsoft.com/office/drawing/2014/main" id="{CFB4BBD4-8F96-A847-0222-36C38CDD2E34}"/>
              </a:ext>
            </a:extLst>
          </p:cNvPr>
          <p:cNvSpPr txBox="1"/>
          <p:nvPr/>
        </p:nvSpPr>
        <p:spPr>
          <a:xfrm>
            <a:off x="2130782" y="5748212"/>
            <a:ext cx="9897404" cy="1015663"/>
          </a:xfrm>
          <a:prstGeom prst="rect">
            <a:avLst/>
          </a:prstGeom>
          <a:noFill/>
        </p:spPr>
        <p:txBody>
          <a:bodyPr wrap="square" rtlCol="0">
            <a:spAutoFit/>
          </a:bodyPr>
          <a:lstStyle/>
          <a:p>
            <a:r>
              <a:rPr lang="en-US" sz="1400" b="1" dirty="0"/>
              <a:t>Geographic Profitability:</a:t>
            </a:r>
            <a:r>
              <a:rPr lang="en-US" sz="1400" dirty="0"/>
              <a:t> While we are shipping globally, our analysis shows that shipping overhead to certain regions is disproportionately high. This indicates that we should either adjust our regional pricing tiers or consolidate shipments to protect our margins in distant markets.</a:t>
            </a:r>
          </a:p>
          <a:p>
            <a:endParaRPr lang="en-IN" dirty="0"/>
          </a:p>
        </p:txBody>
      </p:sp>
    </p:spTree>
    <p:extLst>
      <p:ext uri="{BB962C8B-B14F-4D97-AF65-F5344CB8AC3E}">
        <p14:creationId xmlns:p14="http://schemas.microsoft.com/office/powerpoint/2010/main" val="915822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DC786D1-67DA-521C-96A1-C1E78E3D47C6}"/>
              </a:ext>
            </a:extLst>
          </p:cNvPr>
          <p:cNvSpPr/>
          <p:nvPr/>
        </p:nvSpPr>
        <p:spPr>
          <a:xfrm>
            <a:off x="158620" y="1562100"/>
            <a:ext cx="11812556" cy="10953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EA51885A-2A77-58CE-10B5-5802627AD0F7}"/>
              </a:ext>
            </a:extLst>
          </p:cNvPr>
          <p:cNvSpPr txBox="1"/>
          <p:nvPr/>
        </p:nvSpPr>
        <p:spPr>
          <a:xfrm>
            <a:off x="1104900" y="1694288"/>
            <a:ext cx="9566343" cy="830997"/>
          </a:xfrm>
          <a:prstGeom prst="rect">
            <a:avLst/>
          </a:prstGeom>
          <a:noFill/>
        </p:spPr>
        <p:txBody>
          <a:bodyPr wrap="square" rtlCol="0">
            <a:spAutoFit/>
          </a:bodyPr>
          <a:lstStyle/>
          <a:p>
            <a:r>
              <a:rPr lang="en-US" sz="1600" b="1" dirty="0"/>
              <a:t>Objective </a:t>
            </a:r>
            <a:r>
              <a:rPr lang="en-US" sz="1400" dirty="0"/>
              <a:t>: To engineer a comprehensive and centralized analytical ecosystem that synthesizes raw operational data into actionable strategic intelligence. Our objective is to eliminate data silos and provide stakeholders with a "single source of truth“</a:t>
            </a:r>
          </a:p>
          <a:p>
            <a:r>
              <a:rPr lang="en-US" sz="1400" dirty="0"/>
              <a:t>to evaluate Northwind Traders’ organizational health in real-time</a:t>
            </a:r>
            <a:r>
              <a:rPr lang="en-US" dirty="0"/>
              <a:t>.</a:t>
            </a:r>
            <a:endParaRPr lang="en-IN" dirty="0"/>
          </a:p>
        </p:txBody>
      </p:sp>
      <p:sp>
        <p:nvSpPr>
          <p:cNvPr id="6" name="Rectangle: Rounded Corners 5">
            <a:extLst>
              <a:ext uri="{FF2B5EF4-FFF2-40B4-BE49-F238E27FC236}">
                <a16:creationId xmlns:a16="http://schemas.microsoft.com/office/drawing/2014/main" id="{A6BEECCD-65A6-C6DF-B454-BA7B3F8C1104}"/>
              </a:ext>
            </a:extLst>
          </p:cNvPr>
          <p:cNvSpPr/>
          <p:nvPr/>
        </p:nvSpPr>
        <p:spPr>
          <a:xfrm>
            <a:off x="158620" y="3013113"/>
            <a:ext cx="11812556" cy="10953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4" name="TextBox 13">
            <a:extLst>
              <a:ext uri="{FF2B5EF4-FFF2-40B4-BE49-F238E27FC236}">
                <a16:creationId xmlns:a16="http://schemas.microsoft.com/office/drawing/2014/main" id="{A4C1E811-96B0-0489-7993-85FC6052A90A}"/>
              </a:ext>
            </a:extLst>
          </p:cNvPr>
          <p:cNvSpPr txBox="1"/>
          <p:nvPr/>
        </p:nvSpPr>
        <p:spPr>
          <a:xfrm>
            <a:off x="1104899" y="3176081"/>
            <a:ext cx="9982201" cy="769441"/>
          </a:xfrm>
          <a:prstGeom prst="rect">
            <a:avLst/>
          </a:prstGeom>
          <a:noFill/>
        </p:spPr>
        <p:txBody>
          <a:bodyPr wrap="square" rtlCol="0">
            <a:spAutoFit/>
          </a:bodyPr>
          <a:lstStyle/>
          <a:p>
            <a:r>
              <a:rPr lang="en-US" sz="1600" b="1" dirty="0"/>
              <a:t>Analysis Scope</a:t>
            </a:r>
            <a:r>
              <a:rPr lang="en-US" sz="1600" dirty="0"/>
              <a:t> : </a:t>
            </a:r>
            <a:r>
              <a:rPr lang="en-US" sz="1400" dirty="0"/>
              <a:t>Our analysis delivers a multidimensional evaluation of the enterprise, performing a deep dive into Sales</a:t>
            </a:r>
            <a:r>
              <a:rPr lang="en-US" sz="1400" b="1" dirty="0"/>
              <a:t> </a:t>
            </a:r>
            <a:r>
              <a:rPr lang="en-US" sz="1400" dirty="0"/>
              <a:t>Dynamics (revenue velocity and margin health), Customer Intelligence (behavioral segmentation and retention patterns), Workforce Optimization (employee performance metrics and negotiation efficiency), and Supply Chain Logistics (inventory fluidity and global fulfillment costs).</a:t>
            </a:r>
            <a:endParaRPr lang="en-IN" sz="1400" dirty="0"/>
          </a:p>
        </p:txBody>
      </p:sp>
      <p:sp>
        <p:nvSpPr>
          <p:cNvPr id="15" name="Rectangle: Rounded Corners 14">
            <a:extLst>
              <a:ext uri="{FF2B5EF4-FFF2-40B4-BE49-F238E27FC236}">
                <a16:creationId xmlns:a16="http://schemas.microsoft.com/office/drawing/2014/main" id="{6A1030D1-2393-0529-44C8-52B604A9BE68}"/>
              </a:ext>
            </a:extLst>
          </p:cNvPr>
          <p:cNvSpPr/>
          <p:nvPr/>
        </p:nvSpPr>
        <p:spPr>
          <a:xfrm>
            <a:off x="233265" y="4464126"/>
            <a:ext cx="11737911" cy="10953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7" name="TextBox 16">
            <a:extLst>
              <a:ext uri="{FF2B5EF4-FFF2-40B4-BE49-F238E27FC236}">
                <a16:creationId xmlns:a16="http://schemas.microsoft.com/office/drawing/2014/main" id="{09F88BC3-DF52-84AC-8F6A-7A0441694506}"/>
              </a:ext>
            </a:extLst>
          </p:cNvPr>
          <p:cNvSpPr txBox="1"/>
          <p:nvPr/>
        </p:nvSpPr>
        <p:spPr>
          <a:xfrm>
            <a:off x="1104899" y="4627092"/>
            <a:ext cx="9790079" cy="769441"/>
          </a:xfrm>
          <a:prstGeom prst="rect">
            <a:avLst/>
          </a:prstGeom>
          <a:noFill/>
        </p:spPr>
        <p:txBody>
          <a:bodyPr wrap="square" rtlCol="0">
            <a:spAutoFit/>
          </a:bodyPr>
          <a:lstStyle/>
          <a:p>
            <a:r>
              <a:rPr lang="en-US" sz="1600" b="1" dirty="0"/>
              <a:t>Goal </a:t>
            </a:r>
            <a:r>
              <a:rPr lang="en-US" sz="1600" dirty="0"/>
              <a:t>:</a:t>
            </a:r>
            <a:r>
              <a:rPr lang="en-US" sz="1400" dirty="0"/>
              <a:t> To empower the organization with data-driven foresight, moving beyond retrospective reporting to proactive optimization. By identifying high-impact levers in our cost-to-serve and customer loyalty cycles, we aim to fortify Northwind’s competitive advantage and maximize long-term institutional profitability.</a:t>
            </a:r>
            <a:endParaRPr lang="en-IN" sz="1400" dirty="0"/>
          </a:p>
        </p:txBody>
      </p:sp>
    </p:spTree>
    <p:extLst>
      <p:ext uri="{BB962C8B-B14F-4D97-AF65-F5344CB8AC3E}">
        <p14:creationId xmlns:p14="http://schemas.microsoft.com/office/powerpoint/2010/main" val="274760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20EB917-5C4B-A510-E897-EBD5EBD10B18}"/>
              </a:ext>
            </a:extLst>
          </p:cNvPr>
          <p:cNvGrpSpPr/>
          <p:nvPr/>
        </p:nvGrpSpPr>
        <p:grpSpPr>
          <a:xfrm>
            <a:off x="1081087" y="1457726"/>
            <a:ext cx="10029825" cy="1690767"/>
            <a:chOff x="1135148" y="1457726"/>
            <a:chExt cx="10029825" cy="1585835"/>
          </a:xfrm>
        </p:grpSpPr>
        <p:sp>
          <p:nvSpPr>
            <p:cNvPr id="2" name="Rectangle: Rounded Corners 1">
              <a:extLst>
                <a:ext uri="{FF2B5EF4-FFF2-40B4-BE49-F238E27FC236}">
                  <a16:creationId xmlns:a16="http://schemas.microsoft.com/office/drawing/2014/main" id="{052EF671-182F-8D4A-CCAD-F5997FF6BF9B}"/>
                </a:ext>
              </a:extLst>
            </p:cNvPr>
            <p:cNvSpPr/>
            <p:nvPr/>
          </p:nvSpPr>
          <p:spPr>
            <a:xfrm>
              <a:off x="1135148" y="1457726"/>
              <a:ext cx="10029825" cy="158583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7EE3F96F-E64A-5D3B-D678-70BEF97EA2FB}"/>
                </a:ext>
              </a:extLst>
            </p:cNvPr>
            <p:cNvSpPr txBox="1"/>
            <p:nvPr/>
          </p:nvSpPr>
          <p:spPr>
            <a:xfrm>
              <a:off x="1243277" y="1650478"/>
              <a:ext cx="9921696" cy="1200329"/>
            </a:xfrm>
            <a:prstGeom prst="rect">
              <a:avLst/>
            </a:prstGeom>
            <a:noFill/>
          </p:spPr>
          <p:txBody>
            <a:bodyPr wrap="square" rtlCol="0">
              <a:spAutoFit/>
            </a:bodyPr>
            <a:lstStyle/>
            <a:p>
              <a:r>
                <a:rPr lang="en-US" b="1" dirty="0"/>
                <a:t>Insight &amp; Recommendations</a:t>
              </a:r>
              <a:r>
                <a:rPr lang="en-US" dirty="0"/>
                <a:t>: Northwind’s health depends on a high concentration of revenue from top-tier products and a few power customers, but inconsistent employee discounting often erodes total profit. To drive growth, we must shift focus from gross sales volume to net profitability by automating inventory reorders and launching a data-driven loyalty program to secure our most valuable accounts.</a:t>
              </a:r>
              <a:endParaRPr lang="en-IN" dirty="0"/>
            </a:p>
          </p:txBody>
        </p:sp>
      </p:grpSp>
      <p:grpSp>
        <p:nvGrpSpPr>
          <p:cNvPr id="8" name="Group 7">
            <a:extLst>
              <a:ext uri="{FF2B5EF4-FFF2-40B4-BE49-F238E27FC236}">
                <a16:creationId xmlns:a16="http://schemas.microsoft.com/office/drawing/2014/main" id="{C27DCAE9-800E-1F28-D200-809A9338AB17}"/>
              </a:ext>
            </a:extLst>
          </p:cNvPr>
          <p:cNvGrpSpPr/>
          <p:nvPr/>
        </p:nvGrpSpPr>
        <p:grpSpPr>
          <a:xfrm>
            <a:off x="1081084" y="4362137"/>
            <a:ext cx="10029825" cy="1690767"/>
            <a:chOff x="1081084" y="4716604"/>
            <a:chExt cx="10029825" cy="1585835"/>
          </a:xfrm>
        </p:grpSpPr>
        <p:sp>
          <p:nvSpPr>
            <p:cNvPr id="3" name="Rectangle: Rounded Corners 2">
              <a:extLst>
                <a:ext uri="{FF2B5EF4-FFF2-40B4-BE49-F238E27FC236}">
                  <a16:creationId xmlns:a16="http://schemas.microsoft.com/office/drawing/2014/main" id="{9EDCFE8B-C011-C467-D8D7-D23D1A88DBF6}"/>
                </a:ext>
              </a:extLst>
            </p:cNvPr>
            <p:cNvSpPr/>
            <p:nvPr/>
          </p:nvSpPr>
          <p:spPr>
            <a:xfrm>
              <a:off x="1081084" y="4716604"/>
              <a:ext cx="10029825" cy="158583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B7DD4406-E47A-1296-6010-80DA8ABAFFEE}"/>
                </a:ext>
              </a:extLst>
            </p:cNvPr>
            <p:cNvSpPr txBox="1"/>
            <p:nvPr/>
          </p:nvSpPr>
          <p:spPr>
            <a:xfrm>
              <a:off x="1135148" y="5047856"/>
              <a:ext cx="9921696" cy="923330"/>
            </a:xfrm>
            <a:prstGeom prst="rect">
              <a:avLst/>
            </a:prstGeom>
            <a:noFill/>
          </p:spPr>
          <p:txBody>
            <a:bodyPr wrap="square" rtlCol="0">
              <a:spAutoFit/>
            </a:bodyPr>
            <a:lstStyle/>
            <a:p>
              <a:r>
                <a:rPr lang="en-US" b="1" dirty="0"/>
                <a:t>Report &amp; Presentation</a:t>
              </a:r>
              <a:r>
                <a:rPr lang="en-US" dirty="0"/>
                <a:t>: "This ecosystem synthesizes raw operational data into actionable intelligence. It provides leadership with a 'command center' to monitor Northwind’s health, identify hidden risks in the supply chain, and protect profit margins through data-driven employee and customer management."</a:t>
              </a:r>
              <a:endParaRPr lang="en-IN" dirty="0"/>
            </a:p>
          </p:txBody>
        </p:sp>
      </p:grpSp>
    </p:spTree>
    <p:extLst>
      <p:ext uri="{BB962C8B-B14F-4D97-AF65-F5344CB8AC3E}">
        <p14:creationId xmlns:p14="http://schemas.microsoft.com/office/powerpoint/2010/main" val="106432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AE27B6C-C165-F374-76B9-CA91D06C0F5E}"/>
              </a:ext>
            </a:extLst>
          </p:cNvPr>
          <p:cNvSpPr/>
          <p:nvPr/>
        </p:nvSpPr>
        <p:spPr>
          <a:xfrm>
            <a:off x="4450702" y="0"/>
            <a:ext cx="2491274" cy="39188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9281A1D1-7AF6-36FB-9D19-A9557DCB5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1664"/>
            <a:ext cx="12192000" cy="6396335"/>
          </a:xfrm>
          <a:prstGeom prst="rect">
            <a:avLst/>
          </a:prstGeom>
        </p:spPr>
      </p:pic>
      <p:sp>
        <p:nvSpPr>
          <p:cNvPr id="4" name="TextBox 3">
            <a:extLst>
              <a:ext uri="{FF2B5EF4-FFF2-40B4-BE49-F238E27FC236}">
                <a16:creationId xmlns:a16="http://schemas.microsoft.com/office/drawing/2014/main" id="{2870EA69-AB89-E5E9-8765-DA8A2B97B3B5}"/>
              </a:ext>
            </a:extLst>
          </p:cNvPr>
          <p:cNvSpPr txBox="1"/>
          <p:nvPr/>
        </p:nvSpPr>
        <p:spPr>
          <a:xfrm>
            <a:off x="4808374" y="4464"/>
            <a:ext cx="1993641" cy="461665"/>
          </a:xfrm>
          <a:prstGeom prst="rect">
            <a:avLst/>
          </a:prstGeom>
          <a:noFill/>
        </p:spPr>
        <p:txBody>
          <a:bodyPr wrap="square" rtlCol="0">
            <a:spAutoFit/>
          </a:bodyPr>
          <a:lstStyle/>
          <a:p>
            <a:r>
              <a:rPr lang="en-US" sz="2400" b="1" dirty="0"/>
              <a:t>ER DIAGRAM</a:t>
            </a:r>
            <a:endParaRPr lang="en-IN" sz="2400" b="1" dirty="0"/>
          </a:p>
        </p:txBody>
      </p:sp>
    </p:spTree>
    <p:extLst>
      <p:ext uri="{BB962C8B-B14F-4D97-AF65-F5344CB8AC3E}">
        <p14:creationId xmlns:p14="http://schemas.microsoft.com/office/powerpoint/2010/main" val="3704720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2000"/>
            <a:lum/>
          </a:blip>
          <a:srcRect/>
          <a:stretch>
            <a:fillRect t="-1000" b="-1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7277CB-21FB-CFE4-A1CF-7149D8BEFE87}"/>
              </a:ext>
            </a:extLst>
          </p:cNvPr>
          <p:cNvSpPr txBox="1"/>
          <p:nvPr/>
        </p:nvSpPr>
        <p:spPr>
          <a:xfrm>
            <a:off x="7724775" y="4429124"/>
            <a:ext cx="4238626" cy="1138773"/>
          </a:xfrm>
          <a:prstGeom prst="rect">
            <a:avLst/>
          </a:prstGeom>
          <a:noFill/>
        </p:spPr>
        <p:txBody>
          <a:bodyPr wrap="square" rtlCol="0">
            <a:spAutoFit/>
          </a:bodyPr>
          <a:lstStyle/>
          <a:p>
            <a:r>
              <a:rPr lang="en-US" sz="3400" b="1" dirty="0">
                <a:solidFill>
                  <a:schemeClr val="bg1"/>
                </a:solidFill>
                <a:latin typeface="Britannic Bold" panose="020B0903060703020204" pitchFamily="34" charset="0"/>
              </a:rPr>
              <a:t>POWER BI PROBLEM STATEMENTS</a:t>
            </a:r>
            <a:endParaRPr lang="en-IN" sz="3400" b="1" dirty="0">
              <a:solidFill>
                <a:schemeClr val="bg1"/>
              </a:solidFill>
              <a:latin typeface="Britannic Bold" panose="020B0903060703020204" pitchFamily="34" charset="0"/>
            </a:endParaRPr>
          </a:p>
        </p:txBody>
      </p:sp>
      <p:sp>
        <p:nvSpPr>
          <p:cNvPr id="3" name="TextBox 2">
            <a:extLst>
              <a:ext uri="{FF2B5EF4-FFF2-40B4-BE49-F238E27FC236}">
                <a16:creationId xmlns:a16="http://schemas.microsoft.com/office/drawing/2014/main" id="{E1A60EA1-CE19-B4DB-FF6D-61A5409860E8}"/>
              </a:ext>
            </a:extLst>
          </p:cNvPr>
          <p:cNvSpPr txBox="1"/>
          <p:nvPr/>
        </p:nvSpPr>
        <p:spPr>
          <a:xfrm>
            <a:off x="161925" y="6181725"/>
            <a:ext cx="1733550" cy="276999"/>
          </a:xfrm>
          <a:prstGeom prst="rect">
            <a:avLst/>
          </a:prstGeom>
          <a:noFill/>
        </p:spPr>
        <p:txBody>
          <a:bodyPr wrap="square" rtlCol="0">
            <a:spAutoFit/>
          </a:bodyPr>
          <a:lstStyle/>
          <a:p>
            <a:r>
              <a:rPr lang="en-US" sz="1200" dirty="0">
                <a:solidFill>
                  <a:schemeClr val="bg1"/>
                </a:solidFill>
              </a:rPr>
              <a:t>MICROSOFT | POWER BI</a:t>
            </a:r>
            <a:endParaRPr lang="en-IN" sz="1200" dirty="0">
              <a:solidFill>
                <a:schemeClr val="bg1"/>
              </a:solidFill>
            </a:endParaRPr>
          </a:p>
        </p:txBody>
      </p:sp>
    </p:spTree>
    <p:extLst>
      <p:ext uri="{BB962C8B-B14F-4D97-AF65-F5344CB8AC3E}">
        <p14:creationId xmlns:p14="http://schemas.microsoft.com/office/powerpoint/2010/main" val="1507608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C77552-6B4D-ED47-5972-64035788AD30}"/>
              </a:ext>
            </a:extLst>
          </p:cNvPr>
          <p:cNvSpPr/>
          <p:nvPr/>
        </p:nvSpPr>
        <p:spPr>
          <a:xfrm>
            <a:off x="1" y="0"/>
            <a:ext cx="12192000" cy="762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D36083AD-3653-E93D-E4AC-5688E6CA89CE}"/>
              </a:ext>
            </a:extLst>
          </p:cNvPr>
          <p:cNvSpPr txBox="1"/>
          <p:nvPr/>
        </p:nvSpPr>
        <p:spPr>
          <a:xfrm>
            <a:off x="4130605" y="165556"/>
            <a:ext cx="3930789" cy="430887"/>
          </a:xfrm>
          <a:prstGeom prst="rect">
            <a:avLst/>
          </a:prstGeom>
          <a:noFill/>
        </p:spPr>
        <p:txBody>
          <a:bodyPr wrap="square" rtlCol="0">
            <a:spAutoFit/>
          </a:bodyPr>
          <a:lstStyle/>
          <a:p>
            <a:r>
              <a:rPr lang="en-US" sz="2200" dirty="0"/>
              <a:t>SALES AND TREND ANALYSIS</a:t>
            </a:r>
            <a:endParaRPr lang="en-IN" sz="2200" dirty="0"/>
          </a:p>
        </p:txBody>
      </p:sp>
      <p:pic>
        <p:nvPicPr>
          <p:cNvPr id="5" name="Picture 4">
            <a:extLst>
              <a:ext uri="{FF2B5EF4-FFF2-40B4-BE49-F238E27FC236}">
                <a16:creationId xmlns:a16="http://schemas.microsoft.com/office/drawing/2014/main" id="{5BE5610B-F6BF-DEC8-2FB5-3F08C5D5F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096" y="1293779"/>
            <a:ext cx="4353547" cy="2322068"/>
          </a:xfrm>
          <a:prstGeom prst="rect">
            <a:avLst/>
          </a:prstGeom>
        </p:spPr>
      </p:pic>
      <p:pic>
        <p:nvPicPr>
          <p:cNvPr id="7" name="Picture 6">
            <a:extLst>
              <a:ext uri="{FF2B5EF4-FFF2-40B4-BE49-F238E27FC236}">
                <a16:creationId xmlns:a16="http://schemas.microsoft.com/office/drawing/2014/main" id="{134CB035-42D6-1D93-51AA-840321675A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5633" y="1293779"/>
            <a:ext cx="4562271" cy="2322068"/>
          </a:xfrm>
          <a:prstGeom prst="rect">
            <a:avLst/>
          </a:prstGeom>
        </p:spPr>
      </p:pic>
      <p:pic>
        <p:nvPicPr>
          <p:cNvPr id="9" name="Picture 8">
            <a:extLst>
              <a:ext uri="{FF2B5EF4-FFF2-40B4-BE49-F238E27FC236}">
                <a16:creationId xmlns:a16="http://schemas.microsoft.com/office/drawing/2014/main" id="{40A6AAE6-C15B-ECCB-CBE4-5DFD58E42F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477" y="4147626"/>
            <a:ext cx="4423166" cy="2457456"/>
          </a:xfrm>
          <a:prstGeom prst="rect">
            <a:avLst/>
          </a:prstGeom>
        </p:spPr>
      </p:pic>
      <p:pic>
        <p:nvPicPr>
          <p:cNvPr id="11" name="Picture 10">
            <a:extLst>
              <a:ext uri="{FF2B5EF4-FFF2-40B4-BE49-F238E27FC236}">
                <a16:creationId xmlns:a16="http://schemas.microsoft.com/office/drawing/2014/main" id="{91D47BFB-18BE-A0A3-1EBD-CAE54CB5A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5633" y="4147626"/>
            <a:ext cx="4562271" cy="2473962"/>
          </a:xfrm>
          <a:prstGeom prst="rect">
            <a:avLst/>
          </a:prstGeom>
        </p:spPr>
      </p:pic>
    </p:spTree>
    <p:extLst>
      <p:ext uri="{BB962C8B-B14F-4D97-AF65-F5344CB8AC3E}">
        <p14:creationId xmlns:p14="http://schemas.microsoft.com/office/powerpoint/2010/main" val="283484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E757C5-A3C9-DEB6-7BD7-ABCF025F3615}"/>
              </a:ext>
            </a:extLst>
          </p:cNvPr>
          <p:cNvSpPr/>
          <p:nvPr/>
        </p:nvSpPr>
        <p:spPr>
          <a:xfrm>
            <a:off x="0" y="1"/>
            <a:ext cx="12192000" cy="72957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22B2D5E0-301C-751D-9CB8-6C4C67334A19}"/>
              </a:ext>
            </a:extLst>
          </p:cNvPr>
          <p:cNvSpPr txBox="1"/>
          <p:nvPr/>
        </p:nvSpPr>
        <p:spPr>
          <a:xfrm>
            <a:off x="4464995" y="133955"/>
            <a:ext cx="2704289" cy="461665"/>
          </a:xfrm>
          <a:prstGeom prst="rect">
            <a:avLst/>
          </a:prstGeom>
          <a:noFill/>
        </p:spPr>
        <p:txBody>
          <a:bodyPr wrap="square" rtlCol="0">
            <a:spAutoFit/>
          </a:bodyPr>
          <a:lstStyle/>
          <a:p>
            <a:r>
              <a:rPr lang="en-US" sz="2400" b="1" dirty="0"/>
              <a:t>Supplier Analysis</a:t>
            </a:r>
            <a:endParaRPr lang="en-IN" sz="2400" b="1" dirty="0"/>
          </a:p>
        </p:txBody>
      </p:sp>
      <p:pic>
        <p:nvPicPr>
          <p:cNvPr id="5" name="Picture 4">
            <a:extLst>
              <a:ext uri="{FF2B5EF4-FFF2-40B4-BE49-F238E27FC236}">
                <a16:creationId xmlns:a16="http://schemas.microsoft.com/office/drawing/2014/main" id="{AA57EB9F-B830-DAAE-981C-19627EA40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771" y="1002878"/>
            <a:ext cx="5115080" cy="2802247"/>
          </a:xfrm>
          <a:prstGeom prst="rect">
            <a:avLst/>
          </a:prstGeom>
        </p:spPr>
      </p:pic>
      <p:pic>
        <p:nvPicPr>
          <p:cNvPr id="7" name="Picture 6">
            <a:extLst>
              <a:ext uri="{FF2B5EF4-FFF2-40B4-BE49-F238E27FC236}">
                <a16:creationId xmlns:a16="http://schemas.microsoft.com/office/drawing/2014/main" id="{5E357B07-A012-E1D9-AD7B-E6F35C785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622" y="981813"/>
            <a:ext cx="5207826" cy="2844378"/>
          </a:xfrm>
          <a:prstGeom prst="rect">
            <a:avLst/>
          </a:prstGeom>
        </p:spPr>
      </p:pic>
      <p:pic>
        <p:nvPicPr>
          <p:cNvPr id="9" name="Picture 8">
            <a:extLst>
              <a:ext uri="{FF2B5EF4-FFF2-40B4-BE49-F238E27FC236}">
                <a16:creationId xmlns:a16="http://schemas.microsoft.com/office/drawing/2014/main" id="{53D55659-1E0B-73FA-FD3C-B7AF7C20CE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5888" y="4405134"/>
            <a:ext cx="5750561" cy="2318911"/>
          </a:xfrm>
          <a:prstGeom prst="rect">
            <a:avLst/>
          </a:prstGeom>
        </p:spPr>
      </p:pic>
    </p:spTree>
    <p:extLst>
      <p:ext uri="{BB962C8B-B14F-4D97-AF65-F5344CB8AC3E}">
        <p14:creationId xmlns:p14="http://schemas.microsoft.com/office/powerpoint/2010/main" val="1989105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637</Words>
  <Application>Microsoft Office PowerPoint</Application>
  <PresentationFormat>Widescreen</PresentationFormat>
  <Paragraphs>24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Britannic 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Shobhit Chourasia</dc:creator>
  <cp:lastModifiedBy>Shobhit Chourasia</cp:lastModifiedBy>
  <cp:revision>1</cp:revision>
  <dcterms:created xsi:type="dcterms:W3CDTF">2026-03-31T09:50:52Z</dcterms:created>
  <dcterms:modified xsi:type="dcterms:W3CDTF">2026-04-01T07:07:28Z</dcterms:modified>
</cp:coreProperties>
</file>