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65B7DBE-7DD0-4BFF-BE7E-3549333522E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3498-24C1-2917-7616-5644C39CB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2E7B3-0DAC-49F5-237E-B795C2608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51B77-DEC0-3622-156F-A9A481AA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041B3-E302-4252-8758-8DDFE1DE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11021-30AE-E383-CD38-24385362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71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75CD-984E-9965-09F8-5F090946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CDECF-18C3-CFE0-5BC4-2B110095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D5B18-CD11-B4F3-F34D-75DFAFA9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FC765-5104-6682-E43A-0A8B8CD6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6CA36-707B-89B8-9B9D-5F0ECC80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55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A67C-EFA9-043C-B603-DA57E64C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3699-68CA-8565-D3FD-77EFA3E67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404A4-6910-A49B-E0A4-4BF00D02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B74EB-A5EF-9F72-2D9B-513134E3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F8DBB-645E-CD1A-21C1-90E4FF85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1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C448-3122-CFCF-FB74-D0E33C5B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DE1B5-ABAD-3314-6940-7B4EFF4A6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98876-0AD9-7CC0-D520-7F9557960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92736-2D31-3593-397D-B748172A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FD291-4DB3-A537-B013-5B19D348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5880A-E24D-E541-8A19-BEA458EB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28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5503-08A5-237B-48BE-3E56BE929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4C777-9850-85A6-42EA-568C019B2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60D9-2BFA-1C8A-DE0E-57ECF3C1F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7BA95-208F-213B-B543-296A7DCC8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747B2-70E6-9A77-04FE-E2B790D84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F425C-8F24-5AB1-C3CB-68D2AF11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3AEE5-604A-B052-A3D7-4FC97967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AA6FDC-16E5-1B7D-82CE-99A4B75F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18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3B95-332A-DC50-23BE-7C5BA0C3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82C7F-D3F8-34EB-750A-D329C957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2D309-D149-01AC-C856-CF4AAA27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C6809-FEC5-7925-E012-8CCE4654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31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37596-8DEE-C4A2-7D96-4C8A60D7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56689-88A9-88E5-97ED-A7EEC64A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A1BE8-2302-410D-AA51-5D1CE6AA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11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70D64-7955-8708-2C48-E98CCE62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20C24-86F0-C4D7-D788-CACD048A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02096-BD1E-88BC-E1CB-56711271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26E9E-92B5-C4DE-7395-85712B82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D7C42-B3DB-FFBF-D859-9533D86D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46AC9-2EFA-8921-B4AF-0DCC9EFB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62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6BF8-5272-4748-BFC9-2004296F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889FA-D57F-7B68-0E99-68B2C91D8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94668-FA1E-26ED-B49B-D6AA794EA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3E742-EAF1-F916-8F75-7320652F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2A725-7E5A-94D2-3CC7-85572E70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8AF8D-D41D-96FB-C6E1-E13F69F8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19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572D-7417-A885-DE00-C4FCA279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847AD-6204-76BA-96F9-52EC2C4AD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4AB8A-64A5-485C-E72E-1CCB8558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5D282-7E14-2A49-02D9-8998BB0C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1C828-9935-AE28-6798-5DCFEA2C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58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18941-102A-B300-8154-089203698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A3AF5-7AAF-CCE1-B4DA-A4A5E3578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12950-0792-6347-ABCF-348BA97C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38F7-117D-AE8A-3EEF-6AB97E7E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DE9D7-9C93-7438-5CDF-1A541305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4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BEC09-DF3C-A61E-40F5-65B5960A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6744A-31E3-2FD7-0D27-12F9411A7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B70D1-ADEE-A0C7-A3A8-AFFE41317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C321B-678E-4CA3-BD38-0814AC5073F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7170E-F490-7C74-2265-A41AC7DB1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8C922-92C4-C18E-9F55-82C430232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84ED4-9861-4AC0-9102-1285307E5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4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049E-E28D-F549-D5D4-A9F89193F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6535" y="-55298"/>
            <a:ext cx="4385388" cy="477514"/>
          </a:xfrm>
        </p:spPr>
        <p:txBody>
          <a:bodyPr>
            <a:normAutofit/>
          </a:bodyPr>
          <a:lstStyle/>
          <a:p>
            <a:r>
              <a:rPr lang="en-US" sz="2500" dirty="0"/>
              <a:t>	</a:t>
            </a:r>
            <a:r>
              <a:rPr lang="en-US" sz="25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NORTHWIND TRADERS</a:t>
            </a:r>
            <a:endParaRPr lang="en-IN" sz="25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58626-19F2-3E59-003F-0EA2F149C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358" y="412752"/>
            <a:ext cx="2251788" cy="335480"/>
          </a:xfrm>
        </p:spPr>
        <p:txBody>
          <a:bodyPr>
            <a:normAutofit/>
          </a:bodyPr>
          <a:lstStyle/>
          <a:p>
            <a:r>
              <a:rPr lang="en-US" sz="1400" u="sng" dirty="0"/>
              <a:t>MECE BREAKDOWN</a:t>
            </a:r>
            <a:endParaRPr lang="en-IN" sz="1400" u="sn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729B3-43C8-95B7-D200-FC0A951FB26F}"/>
              </a:ext>
            </a:extLst>
          </p:cNvPr>
          <p:cNvSpPr/>
          <p:nvPr/>
        </p:nvSpPr>
        <p:spPr>
          <a:xfrm>
            <a:off x="429209" y="1054359"/>
            <a:ext cx="1623526" cy="3638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AE39F-71E7-BBD4-E765-D1244F225F3D}"/>
              </a:ext>
            </a:extLst>
          </p:cNvPr>
          <p:cNvSpPr/>
          <p:nvPr/>
        </p:nvSpPr>
        <p:spPr>
          <a:xfrm>
            <a:off x="2118050" y="1054359"/>
            <a:ext cx="2024742" cy="363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6FE782-3E6C-BAD3-A603-DE0C6D72BDB0}"/>
              </a:ext>
            </a:extLst>
          </p:cNvPr>
          <p:cNvSpPr/>
          <p:nvPr/>
        </p:nvSpPr>
        <p:spPr>
          <a:xfrm>
            <a:off x="4208107" y="1054359"/>
            <a:ext cx="2024742" cy="363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174D09-A08A-9AF6-5C16-620172187066}"/>
              </a:ext>
            </a:extLst>
          </p:cNvPr>
          <p:cNvSpPr/>
          <p:nvPr/>
        </p:nvSpPr>
        <p:spPr>
          <a:xfrm>
            <a:off x="6298164" y="1054359"/>
            <a:ext cx="1894114" cy="363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B9CF81-9E96-240B-402C-F3D4AAFE6CF8}"/>
              </a:ext>
            </a:extLst>
          </p:cNvPr>
          <p:cNvSpPr/>
          <p:nvPr/>
        </p:nvSpPr>
        <p:spPr>
          <a:xfrm>
            <a:off x="2118050" y="1418253"/>
            <a:ext cx="202474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EABC3-D9F0-DF07-D6EC-8BEB227F3C74}"/>
              </a:ext>
            </a:extLst>
          </p:cNvPr>
          <p:cNvSpPr/>
          <p:nvPr/>
        </p:nvSpPr>
        <p:spPr>
          <a:xfrm>
            <a:off x="4208105" y="1418253"/>
            <a:ext cx="202474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highlighting which product categories are the most financially efficient.</a:t>
            </a:r>
            <a:endParaRPr lang="en-I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58FAAC-DB8A-EA91-3BE9-3B1A9B8158CC}"/>
              </a:ext>
            </a:extLst>
          </p:cNvPr>
          <p:cNvSpPr/>
          <p:nvPr/>
        </p:nvSpPr>
        <p:spPr>
          <a:xfrm>
            <a:off x="6298159" y="1418252"/>
            <a:ext cx="1894113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36FDC-6D7F-25E5-CE4A-047D46380E07}"/>
              </a:ext>
            </a:extLst>
          </p:cNvPr>
          <p:cNvSpPr txBox="1"/>
          <p:nvPr/>
        </p:nvSpPr>
        <p:spPr>
          <a:xfrm>
            <a:off x="524072" y="1063831"/>
            <a:ext cx="1394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Sales Analysis</a:t>
            </a:r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177A18-4D9F-4738-F177-ECF7804BF059}"/>
              </a:ext>
            </a:extLst>
          </p:cNvPr>
          <p:cNvSpPr txBox="1"/>
          <p:nvPr/>
        </p:nvSpPr>
        <p:spPr>
          <a:xfrm>
            <a:off x="2453950" y="1051640"/>
            <a:ext cx="135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Sales Trends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5AE45D-9AF3-D09C-B1FB-3B9B50A3F2C8}"/>
              </a:ext>
            </a:extLst>
          </p:cNvPr>
          <p:cNvSpPr txBox="1"/>
          <p:nvPr/>
        </p:nvSpPr>
        <p:spPr>
          <a:xfrm>
            <a:off x="4208101" y="1048919"/>
            <a:ext cx="210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Top Selling Products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EADE37-F25A-05F7-B401-6E0DA0F07220}"/>
              </a:ext>
            </a:extLst>
          </p:cNvPr>
          <p:cNvSpPr txBox="1"/>
          <p:nvPr/>
        </p:nvSpPr>
        <p:spPr>
          <a:xfrm>
            <a:off x="6511207" y="1064309"/>
            <a:ext cx="141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Profit Margin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7C61D-CB27-B919-8B40-9B7B52CE5101}"/>
              </a:ext>
            </a:extLst>
          </p:cNvPr>
          <p:cNvSpPr txBox="1"/>
          <p:nvPr/>
        </p:nvSpPr>
        <p:spPr>
          <a:xfrm>
            <a:off x="2223863" y="1520537"/>
            <a:ext cx="1918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Tracks revenue fluctuations over time</a:t>
            </a:r>
          </a:p>
          <a:p>
            <a:r>
              <a:rPr lang="en-US" sz="1400" dirty="0"/>
              <a:t>(Monthly or Quarterly ).</a:t>
            </a:r>
          </a:p>
          <a:p>
            <a:r>
              <a:rPr lang="en-US" sz="1400" dirty="0"/>
              <a:t> </a:t>
            </a:r>
            <a:endParaRPr lang="en-IN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B78EF2-FF2F-6467-F1B5-583F6BEF2581}"/>
              </a:ext>
            </a:extLst>
          </p:cNvPr>
          <p:cNvSpPr txBox="1"/>
          <p:nvPr/>
        </p:nvSpPr>
        <p:spPr>
          <a:xfrm>
            <a:off x="6387093" y="1520537"/>
            <a:ext cx="1894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Identifies the high-volume items driving the most business.</a:t>
            </a:r>
            <a:endParaRPr lang="en-IN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4F952C-85E2-6CAB-50BE-64B98C2C9775}"/>
              </a:ext>
            </a:extLst>
          </p:cNvPr>
          <p:cNvSpPr/>
          <p:nvPr/>
        </p:nvSpPr>
        <p:spPr>
          <a:xfrm>
            <a:off x="441618" y="2407633"/>
            <a:ext cx="1623525" cy="3550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BC67A4-DD2A-5975-AED1-906CCBEB933D}"/>
              </a:ext>
            </a:extLst>
          </p:cNvPr>
          <p:cNvSpPr txBox="1"/>
          <p:nvPr/>
        </p:nvSpPr>
        <p:spPr>
          <a:xfrm>
            <a:off x="429208" y="2423580"/>
            <a:ext cx="17946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Customer Analysis</a:t>
            </a:r>
            <a:endParaRPr lang="en-IN" sz="15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ECEE51-099F-8A1F-0465-171FDE836BB9}"/>
              </a:ext>
            </a:extLst>
          </p:cNvPr>
          <p:cNvSpPr/>
          <p:nvPr/>
        </p:nvSpPr>
        <p:spPr>
          <a:xfrm>
            <a:off x="2125045" y="2401264"/>
            <a:ext cx="2024741" cy="355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Frequency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BD14EE-84FF-AC9B-ECB6-2A0E3E2887ED}"/>
              </a:ext>
            </a:extLst>
          </p:cNvPr>
          <p:cNvSpPr/>
          <p:nvPr/>
        </p:nvSpPr>
        <p:spPr>
          <a:xfrm>
            <a:off x="4215100" y="2401264"/>
            <a:ext cx="2024741" cy="355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Retention Rate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361818-DFFB-EA4F-C25C-2EC89DBB55E3}"/>
              </a:ext>
            </a:extLst>
          </p:cNvPr>
          <p:cNvSpPr/>
          <p:nvPr/>
        </p:nvSpPr>
        <p:spPr>
          <a:xfrm>
            <a:off x="6285358" y="2391685"/>
            <a:ext cx="1894113" cy="355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customers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5879E5-0B54-721B-7FA6-442B111E7399}"/>
              </a:ext>
            </a:extLst>
          </p:cNvPr>
          <p:cNvSpPr/>
          <p:nvPr/>
        </p:nvSpPr>
        <p:spPr>
          <a:xfrm>
            <a:off x="2118047" y="2756324"/>
            <a:ext cx="202474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993B3F-E866-E834-8F29-E4ACF7170F34}"/>
              </a:ext>
            </a:extLst>
          </p:cNvPr>
          <p:cNvSpPr/>
          <p:nvPr/>
        </p:nvSpPr>
        <p:spPr>
          <a:xfrm>
            <a:off x="4202934" y="2753894"/>
            <a:ext cx="202474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14BD38-C9B4-71C4-F326-0CBC559C4198}"/>
              </a:ext>
            </a:extLst>
          </p:cNvPr>
          <p:cNvSpPr/>
          <p:nvPr/>
        </p:nvSpPr>
        <p:spPr>
          <a:xfrm>
            <a:off x="6298158" y="2746357"/>
            <a:ext cx="1894113" cy="9616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Top customers who</a:t>
            </a:r>
          </a:p>
          <a:p>
            <a:pPr algn="ctr"/>
            <a:r>
              <a:rPr lang="en-US" sz="1400" dirty="0"/>
              <a:t>Spends the most amount.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4D6DF2-2065-DFED-1A74-FC1B831D1360}"/>
              </a:ext>
            </a:extLst>
          </p:cNvPr>
          <p:cNvSpPr/>
          <p:nvPr/>
        </p:nvSpPr>
        <p:spPr>
          <a:xfrm>
            <a:off x="424552" y="3768020"/>
            <a:ext cx="1623525" cy="350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150492-678A-FA18-E6D2-C44E5F20A54C}"/>
              </a:ext>
            </a:extLst>
          </p:cNvPr>
          <p:cNvSpPr/>
          <p:nvPr/>
        </p:nvSpPr>
        <p:spPr>
          <a:xfrm>
            <a:off x="2125045" y="3752072"/>
            <a:ext cx="2024741" cy="355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Stock Level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FE9EE5-401F-BC5F-AB8D-0E7219608133}"/>
              </a:ext>
            </a:extLst>
          </p:cNvPr>
          <p:cNvSpPr/>
          <p:nvPr/>
        </p:nvSpPr>
        <p:spPr>
          <a:xfrm>
            <a:off x="4223254" y="3763623"/>
            <a:ext cx="2017745" cy="355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Recorder Points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2247BC-573B-F5A9-4D6F-C1B01A11B768}"/>
              </a:ext>
            </a:extLst>
          </p:cNvPr>
          <p:cNvSpPr/>
          <p:nvPr/>
        </p:nvSpPr>
        <p:spPr>
          <a:xfrm>
            <a:off x="6314467" y="3752072"/>
            <a:ext cx="1875448" cy="355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Products Counts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FD59CB-8AFC-FF15-C8A7-5D98742F854A}"/>
              </a:ext>
            </a:extLst>
          </p:cNvPr>
          <p:cNvSpPr/>
          <p:nvPr/>
        </p:nvSpPr>
        <p:spPr>
          <a:xfrm>
            <a:off x="2141424" y="4099320"/>
            <a:ext cx="197798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8FCAD1-996F-0474-F697-2C26893AC6B0}"/>
              </a:ext>
            </a:extLst>
          </p:cNvPr>
          <p:cNvSpPr/>
          <p:nvPr/>
        </p:nvSpPr>
        <p:spPr>
          <a:xfrm>
            <a:off x="4230256" y="4107132"/>
            <a:ext cx="2009592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C59B1D-041B-C15D-9F59-C9828387E590}"/>
              </a:ext>
            </a:extLst>
          </p:cNvPr>
          <p:cNvSpPr/>
          <p:nvPr/>
        </p:nvSpPr>
        <p:spPr>
          <a:xfrm>
            <a:off x="6312154" y="4099320"/>
            <a:ext cx="187544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4E16A0-D416-FE50-D191-9A5A8522ED3B}"/>
              </a:ext>
            </a:extLst>
          </p:cNvPr>
          <p:cNvSpPr/>
          <p:nvPr/>
        </p:nvSpPr>
        <p:spPr>
          <a:xfrm>
            <a:off x="433084" y="5096512"/>
            <a:ext cx="1606459" cy="350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761FEB-EF55-EB82-5324-419FA2A837D6}"/>
              </a:ext>
            </a:extLst>
          </p:cNvPr>
          <p:cNvSpPr/>
          <p:nvPr/>
        </p:nvSpPr>
        <p:spPr>
          <a:xfrm>
            <a:off x="2125045" y="5096512"/>
            <a:ext cx="2014244" cy="350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Growth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9DA84E-223B-610C-2035-274D3119E807}"/>
              </a:ext>
            </a:extLst>
          </p:cNvPr>
          <p:cNvSpPr/>
          <p:nvPr/>
        </p:nvSpPr>
        <p:spPr>
          <a:xfrm>
            <a:off x="4230256" y="5096512"/>
            <a:ext cx="2002590" cy="350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per employee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F609E90-5587-6587-E64E-8C36A71E063F}"/>
              </a:ext>
            </a:extLst>
          </p:cNvPr>
          <p:cNvSpPr/>
          <p:nvPr/>
        </p:nvSpPr>
        <p:spPr>
          <a:xfrm>
            <a:off x="6314467" y="5096512"/>
            <a:ext cx="1875448" cy="350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Territory  Reach</a:t>
            </a:r>
            <a:endParaRPr lang="en-I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ADFA28-2B11-B396-16BD-FCC96FB5BDE2}"/>
              </a:ext>
            </a:extLst>
          </p:cNvPr>
          <p:cNvSpPr/>
          <p:nvPr/>
        </p:nvSpPr>
        <p:spPr>
          <a:xfrm>
            <a:off x="2121164" y="5447175"/>
            <a:ext cx="2028622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280C2A-2564-B920-E76B-44A555CE11ED}"/>
              </a:ext>
            </a:extLst>
          </p:cNvPr>
          <p:cNvSpPr/>
          <p:nvPr/>
        </p:nvSpPr>
        <p:spPr>
          <a:xfrm>
            <a:off x="4230256" y="5447175"/>
            <a:ext cx="200259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DB7B03-B7D6-9490-48C8-63EF0FC82705}"/>
              </a:ext>
            </a:extLst>
          </p:cNvPr>
          <p:cNvSpPr/>
          <p:nvPr/>
        </p:nvSpPr>
        <p:spPr>
          <a:xfrm>
            <a:off x="6323812" y="5447175"/>
            <a:ext cx="1863789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BEADC4-1076-AF22-8A2C-B378C1609384}"/>
              </a:ext>
            </a:extLst>
          </p:cNvPr>
          <p:cNvSpPr txBox="1"/>
          <p:nvPr/>
        </p:nvSpPr>
        <p:spPr>
          <a:xfrm>
            <a:off x="436222" y="3768019"/>
            <a:ext cx="16001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Inventory Analysis</a:t>
            </a:r>
            <a:endParaRPr lang="en-IN" sz="15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10ADF9-967B-954D-856D-93738F34F267}"/>
              </a:ext>
            </a:extLst>
          </p:cNvPr>
          <p:cNvSpPr txBox="1"/>
          <p:nvPr/>
        </p:nvSpPr>
        <p:spPr>
          <a:xfrm>
            <a:off x="425751" y="5112459"/>
            <a:ext cx="16269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Employee Analysis</a:t>
            </a:r>
            <a:endParaRPr lang="en-IN" sz="15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2F128E-BBFC-A002-00F0-87BD529B052B}"/>
              </a:ext>
            </a:extLst>
          </p:cNvPr>
          <p:cNvSpPr txBox="1"/>
          <p:nvPr/>
        </p:nvSpPr>
        <p:spPr>
          <a:xfrm>
            <a:off x="2224509" y="2861616"/>
            <a:ext cx="1937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How often does the average customer return.</a:t>
            </a:r>
            <a:endParaRPr lang="en-IN" sz="1400" dirty="0"/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4346CABB-8153-AFC3-F808-8899BBE82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755" y="2852689"/>
            <a:ext cx="202474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Tracks the percentage of customers who return for repeat business.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EAFCC9-E3E1-3636-3880-82BBCA939665}"/>
              </a:ext>
            </a:extLst>
          </p:cNvPr>
          <p:cNvSpPr txBox="1"/>
          <p:nvPr/>
        </p:nvSpPr>
        <p:spPr>
          <a:xfrm>
            <a:off x="2223862" y="4231340"/>
            <a:ext cx="149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Identify Low stock products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886187-7EC3-7D7C-C8B5-BF2F1D6A6AC2}"/>
              </a:ext>
            </a:extLst>
          </p:cNvPr>
          <p:cNvSpPr txBox="1"/>
          <p:nvPr/>
        </p:nvSpPr>
        <p:spPr>
          <a:xfrm rot="10800000" flipV="1">
            <a:off x="4354239" y="4093693"/>
            <a:ext cx="1943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Number of products where Units In Stock is lower than the Reorder Level.</a:t>
            </a:r>
            <a:endParaRPr lang="en-IN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C8CA83-6F3E-4A09-EC2C-1790840EA368}"/>
              </a:ext>
            </a:extLst>
          </p:cNvPr>
          <p:cNvSpPr txBox="1"/>
          <p:nvPr/>
        </p:nvSpPr>
        <p:spPr>
          <a:xfrm>
            <a:off x="6429142" y="4182517"/>
            <a:ext cx="1675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Shows the total</a:t>
            </a:r>
          </a:p>
          <a:p>
            <a:r>
              <a:rPr lang="en-US" sz="1400" dirty="0"/>
              <a:t>Products category in</a:t>
            </a:r>
          </a:p>
          <a:p>
            <a:r>
              <a:rPr lang="en-US" sz="1400" dirty="0"/>
              <a:t>Inventory.</a:t>
            </a:r>
            <a:endParaRPr lang="en-IN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835F82-A34F-09FE-6A1B-F9D8E8998827}"/>
              </a:ext>
            </a:extLst>
          </p:cNvPr>
          <p:cNvSpPr txBox="1"/>
          <p:nvPr/>
        </p:nvSpPr>
        <p:spPr>
          <a:xfrm>
            <a:off x="2223862" y="5529967"/>
            <a:ext cx="1665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Tracking the sales growth of employee</a:t>
            </a:r>
          </a:p>
          <a:p>
            <a:r>
              <a:rPr lang="en-US" sz="1400" dirty="0"/>
              <a:t>With monthly sales.</a:t>
            </a:r>
          </a:p>
          <a:p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DDC2DD-5ECE-C5CF-E9C4-73F09F968B8A}"/>
              </a:ext>
            </a:extLst>
          </p:cNvPr>
          <p:cNvSpPr txBox="1"/>
          <p:nvPr/>
        </p:nvSpPr>
        <p:spPr>
          <a:xfrm>
            <a:off x="4283755" y="5495886"/>
            <a:ext cx="199123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Ranks individual performance based on total revenue generated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6EEAD9-300C-E815-660E-24D8FB74A4C2}"/>
              </a:ext>
            </a:extLst>
          </p:cNvPr>
          <p:cNvSpPr txBox="1"/>
          <p:nvPr/>
        </p:nvSpPr>
        <p:spPr>
          <a:xfrm>
            <a:off x="6365959" y="5526663"/>
            <a:ext cx="19912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Evaluates how well an employee is capturing their assigned market.</a:t>
            </a:r>
            <a:endParaRPr lang="en-IN" sz="14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DDEF533-DB95-1D3B-7DD9-F92A79EA8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211" y="1157183"/>
            <a:ext cx="4426982" cy="510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9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154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NORTHWIND TRADERS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Shobhit Chourasia</dc:creator>
  <cp:lastModifiedBy>Shobhit Chourasia</cp:lastModifiedBy>
  <cp:revision>2</cp:revision>
  <dcterms:created xsi:type="dcterms:W3CDTF">2026-03-27T07:28:09Z</dcterms:created>
  <dcterms:modified xsi:type="dcterms:W3CDTF">2026-03-30T12:26:26Z</dcterms:modified>
</cp:coreProperties>
</file>